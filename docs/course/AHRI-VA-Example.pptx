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16" d="100"/>
          <a:sy n="116" d="100"/>
        </p:scale>
        <p:origin x="512"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00:00–02:00</a:t>
            </a:r>
          </a:p>
          <a:p>
            <a:endParaRPr/>
          </a:p>
          <a:p>
            <a:r>
              <a:t>Welcome the full audience: research associates in basic health research, population science, implementation science and trials; data managers; biostatisticians; bioinformaticians; software developers. The shared objective is oversight. Nobody needs to follow every line of Python. Explain that the verbal-autopsy benchmark is a worked research example and that invented examples will always carry an explicit label. The real-data evaluation is pending the presenter's approved report in this teaching draft.</a:t>
            </a:r>
          </a:p>
          <a:p>
            <a:endParaRPr/>
          </a:p>
          <a:p>
            <a:r>
              <a:t>Visual design: supplied AHRI Brand Identity Guideline, 24 July 2026, pages 4–6: primary blue #29467F and orange #D96500; Avenir Next with blue bold headings and black body copy. The presenter-supplied AHRI logo is used unchanged. Anniversary branding is excluded at the presenter’s request.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02:00–04:00</a:t>
            </a:r>
          </a:p>
          <a:p>
            <a:endParaRPr/>
          </a:p>
          <a:p>
            <a:r>
              <a:t>Ask attendees to keep a current task in mind. It might be a cleaning pipeline, analysis script, trial report, genomic workflow or software change. They should leave able to ask what the agent is allowed to do, what it is trying to produce and what evidence would justify accepting the result. Explain that the session teaches a repeatable review process rather than model-specific prompting tricks.</a:t>
            </a:r>
          </a:p>
          <a:p>
            <a:endParaRPr/>
          </a:p>
          <a:p>
            <a:r>
              <a:t>Acknowledge Matt Pocock by name here, before the demonstrations. This webinar adapts his composable skills workflow for research oversight. The four skills organise our work. The verbal-autopsy agreement benchmark gives us a concrete case on which to practise. Our research protocol, private-data arrangement and human review decisions are course-specific choices. They are not guarantees supplied by the skills. Read the local skill snapshot before rehearsal because the installed instructions can differ from upstream main.</a:t>
            </a:r>
          </a:p>
          <a:p>
            <a:endParaRPr/>
          </a:p>
          <a:p>
            <a:r>
              <a:t>The QR code opens Matt Pocock’s skills repository: https://github.com/mattpocock/skills. The adjacent text link has the same destination.</a:t>
            </a:r>
          </a:p>
          <a:p>
            <a:endParaRPr/>
          </a:p>
          <a:p>
            <a:r>
              <a:t>Sources:</a:t>
            </a:r>
          </a:p>
          <a:p>
            <a:r>
              <a:t>https://github.com/mattpocock/skills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04:00–07:00</a:t>
            </a:r>
          </a:p>
          <a:p>
            <a:endParaRPr/>
          </a:p>
          <a:p>
            <a:r>
              <a:t>The four parts work together, but they do different jobs.</a:t>
            </a:r>
          </a:p>
          <a:p>
            <a:endParaRPr/>
          </a:p>
          <a:p>
            <a:r>
              <a:t>MODEL: The model is the component that interprets the conversation and proposes a response or next action. It can suggest an analysis plan, draft Python or explain a result. Its answer depends on the context it receives and can be wrong. A confident sentence is not evidence that a command ran or that a scientific claim is sound.</a:t>
            </a:r>
          </a:p>
          <a:p>
            <a:endParaRPr/>
          </a:p>
          <a:p>
            <a:r>
              <a:t>TOOLS: Tools let the agent act outside the conversation. Available tools may read permitted files, edit code or run a command. For example, the agent can inspect the supplied documentation and run a check on an invented teaching fixture. A tool's returned status and output give evidence about that action. The available tools depend on the application and its configuration.</a:t>
            </a:r>
          </a:p>
          <a:p>
            <a:endParaRPr/>
          </a:p>
          <a:p>
            <a:r>
              <a:t>INSTRUCTIONS: Instructions tell the agent what to do and how to work. They include your immediate request, continuing project rules in AGENTS.md, and reusable skills. Skills are one kind of instructions. A skill usually has a SKILL.md file and may have scripts, templates or references. Here grill-with-docs directs a questioning process, while to-spec helps turn settled decisions into a specification. Our project rule prohibits the agent from accessing participant records. A rule can direct behaviour but does not itself deny file access.</a:t>
            </a:r>
          </a:p>
          <a:p>
            <a:endParaRPr/>
          </a:p>
          <a:p>
            <a:r>
              <a:t>ENVIRONMENT: The environment is the workspace and runtime in which tools operate, including files, installed Python, operating-system account and permissions. A test may fail because a dependency is missing, even if the proposed code is sensible. A private folder must be inaccessible to the account running the agent. Putting it in another repository does not enforce that separation.</a:t>
            </a:r>
          </a:p>
          <a:p>
            <a:endParaRPr/>
          </a:p>
          <a:p>
            <a:r>
              <a:t>HOW THEY RELATE: You ask for one bounded change. The model uses the applicable instructions and available tools to propose and test it in the environment. You inspect the resulting artifact and evidence. The next slide identifies the research decisions you retain. Point to the conversation, a safe source file and an actual test result in Codex. Keep the orientation within three minutes.</a:t>
            </a:r>
          </a:p>
          <a:p>
            <a:endParaRPr/>
          </a:p>
          <a:p>
            <a:r>
              <a:t>Sources:</a:t>
            </a:r>
          </a:p>
          <a:p>
            <a:r>
              <a:t>https://learn.chatgpt.com/docs/agent-configuration/agents-md</a:t>
            </a:r>
          </a:p>
          <a:p>
            <a:r>
              <a:t>https://learn.chatgpt.com/docs/build-skills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07:00–10:00</a:t>
            </a:r>
          </a:p>
          <a:p>
            <a:endParaRPr/>
          </a:p>
          <a:p>
            <a:r>
              <a:t>Invite a research associate and a technical colleague to name a decision they would retain. The purpose of an agent-generated plan is to make decisions visible. A second agent can provide a useful review, but agreement between agents is not an independent empirical reference standard. The accountable reviewer must be able to trace claims to data and accepted analytical assumptions.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10:00–13:00</a:t>
            </a:r>
          </a:p>
          <a:p>
            <a:endParaRPr/>
          </a:p>
          <a:p>
            <a:r>
              <a:t>Explain that a Markdown file is simply readable text with lightweight formatting. A repository keeps related files and their change history together. We use a separate course repository and example repository. Avoid a Git tutorial: show a small change and a named checkpoint only when needed later. A glossary defines terms; it is not a place to hide implementation decisions. An ADR is a short explanation of a consequential trade-off.</a:t>
            </a:r>
          </a:p>
          <a:p>
            <a:endParaRPr/>
          </a:p>
          <a:p>
            <a:r>
              <a:t>These are actual filenames. Their locations are: course CONTEXT.md and docs/adr/0002-use-an-agreement-benchmark-as-the-teaching-example.md; example docs/spec.md and docs/tickets/live-leakage-check.md; example docs/verification.json and course docs/review-2026-09-25.md. The course itself also has .scratch/ahri-ai-training/spec.md, which specifies the webinar, not the Python benchmark. Name the repository when opening a spec.md. The automated checks themselves are in example tests/test_cli.py.</a:t>
            </a:r>
          </a:p>
          <a:p>
            <a:endParaRPr/>
          </a:p>
          <a:p>
            <a:r>
              <a:t>grill-with-docs helps maintain the glossary and decision records. to-spec records the agreed behaviour. to-tickets makes bounded work reviewable. implement produces the change and test evidence for review. A useful artifact should preserve a decision that somebody can challenge later. Readable text files let researchers inspect these decisions without needing to understand every line of Python.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13:00–16:00</a:t>
            </a:r>
          </a:p>
          <a:p>
            <a:endParaRPr/>
          </a:p>
          <a:p>
            <a:r>
              <a:t>LIVE EXPLANATION (three minutes): Instructions define permitted work. Operating-system access controls enforce which files the agent account can read. Explain the arrangement and show only the invented sentinel result. Complete the setup below before the webinar, not during it.</a:t>
            </a:r>
          </a:p>
          <a:p>
            <a:endParaRPr/>
          </a:p>
          <a:p>
            <a:r>
              <a:t>THREE REPOSITORIES: AI Training holds the course. AHRI VA Agent Demo holds the invented live demonstrations. AHRI VA Example holds the complete presenter walkthrough and reviewed Python. For private execution, place a copy of AHRI VA Example in the separate analysis account. The protected data workspace is a different directory, not a Git repository. The complete package is supplied as AHRI-VA-Example.zip with AHRI-VA-Example-Setup.md. These are preparation instructions, not a claim that the accounts or sibling repositories have already been configured.</a:t>
            </a:r>
          </a:p>
          <a:p>
            <a:endParaRPr/>
          </a:p>
          <a:p>
            <a:r>
              <a:t>CONCRETE LAYOUT: In the standard agent account, use a data-free course copy and AHRI VA Agent Demo. In the analysis account's home, keep AHRI VA Example for source and AHRI-VA-Private/inputs plus AHRI-VA-Private/runs for private data, contracts and reports. Keep private folders out of shared or cloud-synchronised locations accessible from the agent account. The presenter or IT must protect existing copies elsewhere without exposing their contents to the agent.</a:t>
            </a:r>
          </a:p>
          <a:p>
            <a:endParaRPr/>
          </a:p>
          <a:p>
            <a:r>
              <a:t>MACBOOK AND WINDOWS PREPARATION:</a:t>
            </a:r>
          </a:p>
          <a:p>
            <a:r>
              <a:t># Keep private data outside agent access</a:t>
            </a:r>
          </a:p>
          <a:p>
            <a:endParaRPr/>
          </a:p>
          <a:p>
            <a:r>
              <a:t>This is a proposed local setup for the presenter to verify. No account or filesystem permissions have been changed by the agent. An AHRI-managed analysis environment with equivalent separation can be used instead.</a:t>
            </a:r>
          </a:p>
          <a:p>
            <a:endParaRPr/>
          </a:p>
          <a:p>
            <a:r>
              <a:t>Use two separate operating-system accounts: one for AI tools and the live demo, and one for private analysis. Run the agent account as a standard user, with no administrator/root escalation or access to the private account's credentials. Do not launch Codex, an AI editor or another agent under the private account. An agent running as the same user as your analysis can generally read that user's files; a new Git repository does not prevent this.</a:t>
            </a:r>
          </a:p>
          <a:p>
            <a:endParaRPr/>
          </a:p>
          <a:p>
            <a:r>
              <a:t>## MacBook</a:t>
            </a:r>
          </a:p>
          <a:p>
            <a:endParaRPr/>
          </a:p>
          <a:p>
            <a:r>
              <a:t>1. An administrator creates a separate standard account for private analysis in System Settings &gt; Users &amp; Groups &gt; Add User. Keep AI tools in the separate standard agent account. On an institution-managed Mac, have IT establish this separation. [Apple account instructions](https://support.apple.com/guide/mac-help/add-a-user-or-group-mchl3e281fc9/mac).</a:t>
            </a:r>
          </a:p>
          <a:p>
            <a:r>
              <a:t>2. Sign in to the private account. Create AHRI VA Example in its home directory for the complete source. Create AHRI-VA-Private beside it for private files. Keep both outside shared iCloud/OneDrive folders.</a:t>
            </a:r>
          </a:p>
          <a:p>
            <a:r>
              <a:t>3. In Finder, select AHRI-VA-Private, choose Get Info, and inspect Sharing &amp; Permissions. Give the analysis account Read &amp; Write. Set everyone to No Access and remove any additional user/group entry that grants the agent account access. Apply the restriction before adding data. Review inherited or managed permissions with IT if needed. [Apple file permissions](https://support.apple.com/guide/mac-help/change-permissions-for-files-folders-or-disks-mchlp1203/mac).</a:t>
            </a:r>
          </a:p>
          <a:p>
            <a:r>
              <a:t>4. Put only an invented text file named boundary-check.txt in that directory. Verify the analysis account can read it. Switch to the agent account and attempt to read that exact file from an ordinary, non-elevated terminal. It must fail with permission denied. Do not approve an elevation prompt. Repeat from the actual agent runtime using this invented sentinel only.</a:t>
            </a:r>
          </a:p>
          <a:p>
            <a:endParaRPr/>
          </a:p>
          <a:p>
            <a:r>
              <a:t>## Windows</a:t>
            </a:r>
          </a:p>
          <a:p>
            <a:endParaRPr/>
          </a:p>
          <a:p>
            <a:r>
              <a:t>1. An administrator creates a separate local standard account for private analysis via Settings &gt; Accounts &gt; Other users &gt; Add account. The local-account option is under the sign-in alternatives. Keep the agent account standard too. [Microsoft account instructions](https://support.microsoft.com/en-us/windows/security/identity-signin/manage-user-accounts-in-windows).</a:t>
            </a:r>
          </a:p>
          <a:p>
            <a:r>
              <a:t>2. Sign in to the private account. Use its profile directory for AHRI VA Example. In your own PowerShell, create a new protected directory. Run the following only for a new directory; stop if it already exists:</a:t>
            </a:r>
          </a:p>
          <a:p>
            <a:endParaRPr/>
          </a:p>
          <a:p>
            <a:r>
              <a:t>```powershell</a:t>
            </a:r>
          </a:p>
          <a:p>
            <a:r>
              <a:t>$ErrorActionPreference = 'Stop'</a:t>
            </a:r>
          </a:p>
          <a:p>
            <a:r>
              <a:t>$vaPrivate = Join-Path $env:USERPROFILE 'AHRI-VA-Private'</a:t>
            </a:r>
          </a:p>
          <a:p>
            <a:r>
              <a:t>if (Test-Path -LiteralPath $vaPrivate) { throw 'Use the existing-folder permission review instead.' }</a:t>
            </a:r>
          </a:p>
          <a:p>
            <a:r>
              <a:t>New-Item -ItemType Directory -Path $vaPrivate | Out-Null</a:t>
            </a:r>
          </a:p>
          <a:p>
            <a:r>
              <a:t>$vaSid = [System.Security.Principal.WindowsIdentity]::GetCurrent().User.Value</a:t>
            </a:r>
          </a:p>
          <a:p>
            <a:r>
              <a:t>icacls $vaPrivate /inheritance:r /grant:r "*${vaSid}:(OI)(CI)F"</a:t>
            </a:r>
          </a:p>
          <a:p>
            <a:r>
              <a:t>if ($LASTEXITCODE -ne 0) { throw 'Permission configuration failed; do not add data.' }</a:t>
            </a:r>
          </a:p>
          <a:p>
            <a:r>
              <a:t>icacls $vaPrivate</a:t>
            </a:r>
          </a:p>
          <a:p>
            <a:r>
              <a:t>```</a:t>
            </a:r>
          </a:p>
          <a:p>
            <a:endParaRPr/>
          </a:p>
          <a:p>
            <a:r>
              <a:t>This removes inherited permissions and grants the current analysis user full control, inherited by new children. Inspect the resulting access list: no entry may grant the agent account or a group containing it access. For an existing directory, have IT inspect explicit entries rather than using this new-directory recipe. [Microsoft icacls reference](https://learn.microsoft.com/en-us/windows-server/administration/windows-commands/icacls).</a:t>
            </a:r>
          </a:p>
          <a:p>
            <a:r>
              <a:t>3. Create an invented boundary-check.txt in the protected folder. Verify reading succeeds in the analysis account and fails from the ordinary agent account and actual agent runtime. Do not elevate or grant extra access to make the test succeed.</a:t>
            </a:r>
          </a:p>
          <a:p>
            <a:endParaRPr/>
          </a:p>
          <a:p>
            <a:r>
              <a:t>## What the boundary does and how you use it</a:t>
            </a:r>
          </a:p>
          <a:p>
            <a:endParaRPr/>
          </a:p>
          <a:p>
            <a:r>
              <a:t>These account permissions are intended to deny ordinary file reads by the agent account. They do not protect against an administrator deliberately taking ownership or granting access. Keep the agent unable to elevate, and verify the actual setup. A permission-denied result on an invented file is necessary; a promise in AGENTS.md or a sandbox that restricts only writes is insufficient.</a:t>
            </a:r>
          </a:p>
          <a:p>
            <a:endParaRPr/>
          </a:p>
          <a:p>
            <a:r>
              <a:t>After the sentinel test passes, the presenter places authorised participant files in the protected inputs directory and runs reviewed code from their own terminal. Keep contracts, private reports and raw errors under the same boundary. Do not mount or sync the private directory into the agent environment. Existing participant copies elsewhere also need protection; the presenter or IT must check those without exposing their contents to the agent.</a:t>
            </a:r>
          </a:p>
          <a:p>
            <a:endParaRPr/>
          </a:p>
          <a:p>
            <a:r>
              <a:t>For sharing, write a separate reviewed aggregate report and explicitly choose its contents. Transfer only that approved report back to the course-development environment. Use a data-free code copy for any agent-assisted fixes and test them on invented fixtures before returning the revised code to the private environment.</a:t>
            </a:r>
          </a:p>
          <a:p>
            <a:endParaRPr/>
          </a:p>
          <a:p>
            <a:endParaRPr/>
          </a:p>
          <a:p>
            <a:r>
              <a:t>SENTINEL CHECK: The invented boundary-check.txt may contain “invented access test only”. From the analysis account, read that exact file successfully. Record its absolute path. From an ordinary terminal in the agent account, try `cat "/Users/&lt;analysis-user&gt;/AHRI-VA-Private/boundary-check.txt"` on Mac or `Get-Content -LiteralPath 'C:\Users\&lt;analysis-user&gt;\AHRI-VA-Private\boundary-check.txt'` on Windows, replacing the placeholder yourself. Require permission denied, not merely file not found. Repeat the same read through the actual agent runtime on this invented file only. Keep the agent account standard and unable to elevate. If it can read the sentinel, stop and repair the permissions before placing any participant data.</a:t>
            </a:r>
          </a:p>
          <a:p>
            <a:endParaRPr/>
          </a:p>
          <a:p>
            <a:r>
              <a:t>RUN AND RELEASE: In your own analysis-account terminal, use the reviewed Python environment for the private preflight and, after reviewing and freezing the rules, the fixed benchmark. The detailed commands are in AHRI VA Example/docs/walkthrough.md. No agent runs these commands. Keep raw errors, private contracts and all unreviewed outputs private. Create a separate report containing only aggregates you have reviewed and approved for release. Copy only that report into the course workspace. Rehearse the Mac setup locally. The course-development checks ran on Windows and do not establish that your Mac environment works.</a:t>
            </a:r>
          </a:p>
          <a:p>
            <a:endParaRPr/>
          </a:p>
          <a:p>
            <a:r>
              <a:t>Sources:</a:t>
            </a:r>
          </a:p>
          <a:p>
            <a:r>
              <a:t>https://support.apple.com/guide/mac-help/add-a-user-or-group-mchl3e281fc9/mac</a:t>
            </a:r>
          </a:p>
          <a:p>
            <a:r>
              <a:t>https://support.apple.com/guide/mac-help/change-permissions-for-files-folders-or-disks-mchlp1203/mac</a:t>
            </a:r>
          </a:p>
          <a:p>
            <a:r>
              <a:t>https://support.microsoft.com/en-us/windows/security/identity-signin/manage-user-accounts-in-windows</a:t>
            </a:r>
          </a:p>
          <a:p>
            <a:r>
              <a:t>https://learn.microsoft.com/en-us/windows-server/administration/windows-commands/icacls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16:00–18:00</a:t>
            </a:r>
          </a:p>
          <a:p>
            <a:endParaRPr/>
          </a:p>
          <a:p>
            <a:r>
              <a:t>These are examples of applying the same oversight approach to participants' own work. They are brief applications, not additional demonstrations and not the machine-learning technique called transfer learning.</a:t>
            </a:r>
          </a:p>
          <a:p>
            <a:endParaRPr/>
          </a:p>
          <a:p>
            <a:r>
              <a:t>For research synthesis or a trial report, ask the agent to link each substantive claim to its supporting source. For data cleaning, agree what an unknown response means before accepting a recoding rule. For statistical or genomic analysis, ask what could invalidate the comparison and what evidence would reveal that problem. For software, specify the visible behaviour that would show the task is complete.</a:t>
            </a:r>
          </a:p>
          <a:p>
            <a:endParaRPr/>
          </a:p>
          <a:p>
            <a:r>
              <a:t>Invite participants to write one review question for a task they actually do. The same sequence applies: expose the assumption, write the requirement, select a bounded task, inspect evidence. An acceptance criterion can concern a scientific argument or document. It need not be a unit test. We use the verbal-autopsy example as a shared case for practising these decisions.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18:00–20:00</a:t>
            </a:r>
          </a:p>
          <a:p>
            <a:endParaRPr/>
          </a:p>
          <a:p>
            <a:r>
              <a:t>Introduce Matt Pocock's composable skills and the four deliberate transitions. A skill is a reusable set of instructions and may include supporting resources. We will inspect the skill we invoke and the artifact it produces. Mention that installed copies can differ from upstream, so the rehearsal uses a recorded local snapshot. Avoid live installation during the webinar.</a:t>
            </a:r>
          </a:p>
          <a:p>
            <a:endParaRPr/>
          </a:p>
          <a:p>
            <a:r>
              <a:t>Sources:</a:t>
            </a:r>
          </a:p>
          <a:p>
            <a:r>
              <a:t>https://github.com/mattpocock/skills</a:t>
            </a:r>
          </a:p>
          <a:p>
            <a:r>
              <a:t>https://learn.chatgpt.com/docs/build-skills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20:00–23:00</a:t>
            </a:r>
          </a:p>
          <a:p>
            <a:endParaRPr/>
          </a:p>
          <a:p>
            <a:r>
              <a:t>The restricted teaching cohort is an explicit design choice. It is not a limitation of the source dataset. Linkage, actual v2 columns, cohort size and class support require the presenter-run preflight. The teaching goal is a reproducible baseline agreement benchmark rather than a claim of clinical validation. Source: supplied VerbalAutopsy.Harmonisation_Data.pdf, printed pages 4, 6, 10–12 and 31–35; supplied JSON metadata.</a:t>
            </a:r>
          </a:p>
          <a:p>
            <a:endParaRPr/>
          </a:p>
          <a:p>
            <a:r>
              <a:t>The later records are specifically the eligible 2022–2024 AHRI records. The question does not extend to other populations or beyond 2024. The QR code opens the AHRI catalogue. Access conditions on the catalogue still apply. The oversight lesson is to make the population, reference and evaluation period explicit during grill-with-docs, then preserve them in to-spec. No model performance result is shown here.</a:t>
            </a:r>
          </a:p>
          <a:p>
            <a:endParaRPr/>
          </a:p>
          <a:p>
            <a:r>
              <a:t>Sources:</a:t>
            </a:r>
          </a:p>
          <a:p>
            <a:r>
              <a:t>https://data.ahri.org/index.php/catalog/1262</a:t>
            </a:r>
          </a:p>
          <a:p>
            <a:r>
              <a:t>https://data.ahri.org/index.php/catalog/1262/pdf-documentation</a:t>
            </a:r>
          </a:p>
          <a:p>
            <a:r>
              <a:t>https://data.ahri.org/index.php/metadata/export/1262/json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hyperlink" Target="https://github.com/mattpocock/skills" TargetMode="Externa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hyperlink" Target="https://data.ahri.org/index.php/catalog/1262" TargetMode="Externa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9" name="Picture 8"/>
          <p:cNvPicPr>
            <a:picLocks noChangeAspect="1"/>
          </p:cNvPicPr>
          <p:nvPr/>
        </p:nvPicPr>
        <p:blipFill>
          <a:blip r:embed="rId3"/>
          <a:stretch/>
        </p:blipFill>
        <p:spPr>
          <a:xfrm>
            <a:off x="723900" y="600075"/>
            <a:ext cx="2524125" cy="981075"/>
          </a:xfrm>
          <a:prstGeom prst="rect">
            <a:avLst/>
          </a:prstGeom>
        </p:spPr>
      </p:pic>
      <p:sp>
        <p:nvSpPr>
          <p:cNvPr id="2" name="organisation">
            <a:extLst>
              <a:ext uri="{FF2B5EF4-FFF2-40B4-BE49-F238E27FC236}">
                <a16:creationId xmlns:a16="http://schemas.microsoft.com/office/drawing/2014/main" id="{52E873AF-5D79-4695-A82C-77980095F0E0}"/>
              </a:ext>
            </a:extLst>
          </p:cNvPr>
          <p:cNvSpPr>
            <a:spLocks noGrp="1"/>
          </p:cNvSpPr>
          <p:nvPr/>
        </p:nvSpPr>
        <p:spPr>
          <a:xfrm>
            <a:off x="723900" y="1752600"/>
            <a:ext cx="10477500" cy="428625"/>
          </a:xfrm>
          <a:prstGeom prst="rect">
            <a:avLst/>
          </a:prstGeom>
          <a:noFill/>
          <a:ln w="0">
            <a:noFill/>
          </a:ln>
        </p:spPr>
        <p:txBody>
          <a:bodyPr>
            <a:noAutofit/>
          </a:bodyPr>
          <a:lstStyle/>
          <a:p>
            <a:pPr>
              <a:defRPr sz="2025" b="0">
                <a:solidFill>
                  <a:srgbClr val="29467F"/>
                </a:solidFill>
                <a:latin typeface="Avenir Next"/>
                <a:ea typeface="Avenir Next"/>
                <a:cs typeface="Avenir Next"/>
              </a:defRPr>
            </a:pPr>
            <a:r>
              <a:rPr sz="2025" b="0">
                <a:solidFill>
                  <a:srgbClr val="29467F"/>
                </a:solidFill>
                <a:latin typeface="Avenir Next"/>
                <a:ea typeface="Avenir Next"/>
                <a:cs typeface="Avenir Next"/>
              </a:rPr>
              <a:t>Africa Health Research Institute</a:t>
            </a:r>
          </a:p>
        </p:txBody>
      </p:sp>
      <p:sp>
        <p:nvSpPr>
          <p:cNvPr id="3" name="orange-accent">
            <a:extLst>
              <a:ext uri="{FF2B5EF4-FFF2-40B4-BE49-F238E27FC236}">
                <a16:creationId xmlns:a16="http://schemas.microsoft.com/office/drawing/2014/main" id="{81640A71-DA4B-4EC0-9FDE-6B18434FC5B5}"/>
              </a:ext>
            </a:extLst>
          </p:cNvPr>
          <p:cNvSpPr>
            <a:spLocks noGrp="1"/>
          </p:cNvSpPr>
          <p:nvPr/>
        </p:nvSpPr>
        <p:spPr>
          <a:xfrm>
            <a:off x="723900" y="2495550"/>
            <a:ext cx="876300" cy="57150"/>
          </a:xfrm>
          <a:prstGeom prst="rect">
            <a:avLst/>
          </a:prstGeom>
          <a:solidFill>
            <a:srgbClr val="D96500"/>
          </a:solidFill>
          <a:ln w="0">
            <a:noFill/>
          </a:ln>
        </p:spPr>
        <p:txBody>
          <a:bodyPr/>
          <a:lstStyle/>
          <a:p>
            <a:endParaRPr lang="en-GB"/>
          </a:p>
        </p:txBody>
      </p:sp>
      <p:sp>
        <p:nvSpPr>
          <p:cNvPr id="4" name="title">
            <a:extLst>
              <a:ext uri="{FF2B5EF4-FFF2-40B4-BE49-F238E27FC236}">
                <a16:creationId xmlns:a16="http://schemas.microsoft.com/office/drawing/2014/main" id="{2C47C46F-BCA6-493C-8327-C59C3E3FC1C9}"/>
              </a:ext>
            </a:extLst>
          </p:cNvPr>
          <p:cNvSpPr>
            <a:spLocks noGrp="1"/>
          </p:cNvSpPr>
          <p:nvPr/>
        </p:nvSpPr>
        <p:spPr>
          <a:xfrm>
            <a:off x="685800" y="2847975"/>
            <a:ext cx="10820400" cy="1866900"/>
          </a:xfrm>
          <a:prstGeom prst="rect">
            <a:avLst/>
          </a:prstGeom>
          <a:noFill/>
          <a:ln w="0">
            <a:noFill/>
          </a:ln>
        </p:spPr>
        <p:txBody>
          <a:bodyPr>
            <a:noAutofit/>
          </a:bodyPr>
          <a:lstStyle/>
          <a:p>
            <a:pPr>
              <a:defRPr sz="5400" b="1">
                <a:solidFill>
                  <a:srgbClr val="29467F"/>
                </a:solidFill>
                <a:latin typeface="Avenir Next"/>
                <a:ea typeface="Avenir Next"/>
                <a:cs typeface="Avenir Next"/>
              </a:defRPr>
            </a:pPr>
            <a:r>
              <a:rPr sz="5400" b="1">
                <a:solidFill>
                  <a:srgbClr val="29467F"/>
                </a:solidFill>
                <a:latin typeface="Avenir Next"/>
                <a:ea typeface="Avenir Next"/>
                <a:cs typeface="Avenir Next"/>
              </a:rPr>
              <a:t>Supervising AI agents</a:t>
            </a:r>
          </a:p>
          <a:p>
            <a:pPr>
              <a:defRPr sz="5400" b="1">
                <a:solidFill>
                  <a:srgbClr val="29467F"/>
                </a:solidFill>
                <a:latin typeface="Avenir Next"/>
                <a:ea typeface="Avenir Next"/>
                <a:cs typeface="Avenir Next"/>
              </a:defRPr>
            </a:pPr>
            <a:r>
              <a:rPr sz="5400" b="1">
                <a:solidFill>
                  <a:srgbClr val="29467F"/>
                </a:solidFill>
                <a:latin typeface="Avenir Next"/>
                <a:ea typeface="Avenir Next"/>
                <a:cs typeface="Avenir Next"/>
              </a:rPr>
              <a:t>in research</a:t>
            </a:r>
          </a:p>
        </p:txBody>
      </p:sp>
      <p:sp>
        <p:nvSpPr>
          <p:cNvPr id="5" name="tagline">
            <a:extLst>
              <a:ext uri="{FF2B5EF4-FFF2-40B4-BE49-F238E27FC236}">
                <a16:creationId xmlns:a16="http://schemas.microsoft.com/office/drawing/2014/main" id="{26828BDB-9CCB-43AC-AD76-88F315D11310}"/>
              </a:ext>
            </a:extLst>
          </p:cNvPr>
          <p:cNvSpPr>
            <a:spLocks noGrp="1"/>
          </p:cNvSpPr>
          <p:nvPr/>
        </p:nvSpPr>
        <p:spPr>
          <a:xfrm>
            <a:off x="723900" y="5210175"/>
            <a:ext cx="10477500" cy="809625"/>
          </a:xfrm>
          <a:prstGeom prst="rect">
            <a:avLst/>
          </a:prstGeom>
          <a:noFill/>
          <a:ln w="0">
            <a:noFill/>
          </a:ln>
        </p:spPr>
        <p:txBody>
          <a:bodyPr>
            <a:noAutofit/>
          </a:bodyPr>
          <a:lstStyle/>
          <a:p>
            <a:pPr>
              <a:defRPr sz="2400" b="0">
                <a:solidFill>
                  <a:srgbClr val="000000"/>
                </a:solidFill>
                <a:latin typeface="Avenir Next"/>
                <a:ea typeface="Avenir Next"/>
                <a:cs typeface="Avenir Next"/>
              </a:defRPr>
            </a:pPr>
            <a:r>
              <a:rPr sz="2400" b="0">
                <a:solidFill>
                  <a:srgbClr val="000000"/>
                </a:solidFill>
                <a:latin typeface="Avenir Next"/>
                <a:ea typeface="Avenir Next"/>
                <a:cs typeface="Avenir Next"/>
              </a:rPr>
              <a:t>Research judgement throughout the process</a:t>
            </a:r>
          </a:p>
        </p:txBody>
      </p:sp>
      <p:sp>
        <p:nvSpPr>
          <p:cNvPr id="6" name="footer-rule">
            <a:extLst>
              <a:ext uri="{FF2B5EF4-FFF2-40B4-BE49-F238E27FC236}">
                <a16:creationId xmlns:a16="http://schemas.microsoft.com/office/drawing/2014/main" id="{DA7C804E-5D01-47E3-8FAB-2FD5B12A3F1B}"/>
              </a:ext>
            </a:extLst>
          </p:cNvPr>
          <p:cNvSpPr>
            <a:spLocks noGrp="1"/>
          </p:cNvSpPr>
          <p:nvPr/>
        </p:nvSpPr>
        <p:spPr>
          <a:xfrm>
            <a:off x="685800" y="6515100"/>
            <a:ext cx="10820400" cy="9525"/>
          </a:xfrm>
          <a:prstGeom prst="rect">
            <a:avLst/>
          </a:prstGeom>
          <a:solidFill>
            <a:srgbClr val="DCE3EF"/>
          </a:solidFill>
          <a:ln w="0">
            <a:noFill/>
          </a:ln>
        </p:spPr>
        <p:txBody>
          <a:bodyPr/>
          <a:lstStyle/>
          <a:p>
            <a:endParaRPr lang="en-GB"/>
          </a:p>
        </p:txBody>
      </p:sp>
      <p:sp>
        <p:nvSpPr>
          <p:cNvPr id="7" name="footer">
            <a:extLst>
              <a:ext uri="{FF2B5EF4-FFF2-40B4-BE49-F238E27FC236}">
                <a16:creationId xmlns:a16="http://schemas.microsoft.com/office/drawing/2014/main" id="{8EAAA56F-E8D1-4519-BBB6-2B745CA4474A}"/>
              </a:ext>
            </a:extLst>
          </p:cNvPr>
          <p:cNvSpPr>
            <a:spLocks noGrp="1"/>
          </p:cNvSpPr>
          <p:nvPr/>
        </p:nvSpPr>
        <p:spPr>
          <a:xfrm>
            <a:off x="685800" y="6553200"/>
            <a:ext cx="9525000" cy="228600"/>
          </a:xfrm>
          <a:prstGeom prst="rect">
            <a:avLst/>
          </a:prstGeom>
          <a:noFill/>
          <a:ln w="0">
            <a:noFill/>
          </a:ln>
        </p:spPr>
        <p:txBody>
          <a:bodyPr>
            <a:noAutofit/>
          </a:bodyPr>
          <a:lstStyle/>
          <a:p>
            <a:pPr>
              <a:defRPr sz="900" b="0">
                <a:solidFill>
                  <a:srgbClr val="29467F"/>
                </a:solidFill>
                <a:latin typeface="Avenir Next"/>
                <a:ea typeface="Avenir Next"/>
                <a:cs typeface="Avenir Next"/>
              </a:defRPr>
            </a:pPr>
            <a:r>
              <a:rPr sz="900" b="0">
                <a:solidFill>
                  <a:srgbClr val="29467F"/>
                </a:solidFill>
                <a:latin typeface="Avenir Next"/>
                <a:ea typeface="Avenir Next"/>
                <a:cs typeface="Avenir Next"/>
              </a:rPr>
              <a:t>AHRI  /  AI AGENT OVERSIGHT</a:t>
            </a:r>
          </a:p>
        </p:txBody>
      </p:sp>
      <p:sp>
        <p:nvSpPr>
          <p:cNvPr id="8" name="slide-number">
            <a:extLst>
              <a:ext uri="{FF2B5EF4-FFF2-40B4-BE49-F238E27FC236}">
                <a16:creationId xmlns:a16="http://schemas.microsoft.com/office/drawing/2014/main" id="{80F7D41A-D0BE-4D97-AABB-F6C014C5D67E}"/>
              </a:ext>
            </a:extLst>
          </p:cNvPr>
          <p:cNvSpPr>
            <a:spLocks noGrp="1"/>
          </p:cNvSpPr>
          <p:nvPr/>
        </p:nvSpPr>
        <p:spPr>
          <a:xfrm>
            <a:off x="11258550" y="6534150"/>
            <a:ext cx="400050" cy="247650"/>
          </a:xfrm>
          <a:prstGeom prst="rect">
            <a:avLst/>
          </a:prstGeom>
          <a:noFill/>
          <a:ln w="0">
            <a:noFill/>
          </a:ln>
        </p:spPr>
        <p:txBody>
          <a:bodyPr>
            <a:noAutofit/>
          </a:bodyPr>
          <a:lstStyle/>
          <a:p>
            <a:pPr>
              <a:defRPr sz="1200" b="0">
                <a:solidFill>
                  <a:srgbClr val="29467F"/>
                </a:solidFill>
                <a:latin typeface="Avenir Next"/>
                <a:ea typeface="Avenir Next"/>
                <a:cs typeface="Avenir Next"/>
              </a:defRPr>
            </a:pPr>
            <a:r>
              <a:rPr sz="1200" b="0">
                <a:solidFill>
                  <a:srgbClr val="29467F"/>
                </a:solidFill>
                <a:latin typeface="Avenir Next"/>
                <a:ea typeface="Avenir Next"/>
                <a:cs typeface="Avenir Next"/>
              </a:rPr>
              <a:t>01</a:t>
            </a:r>
          </a:p>
        </p:txBody>
      </p:sp>
    </p:spTree>
    <p:extLst>
      <p:ext uri="{BB962C8B-B14F-4D97-AF65-F5344CB8AC3E}">
        <p14:creationId xmlns:p14="http://schemas.microsoft.com/office/powerpoint/2010/main" val="16994206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section">
            <a:extLst>
              <a:ext uri="{FF2B5EF4-FFF2-40B4-BE49-F238E27FC236}">
                <a16:creationId xmlns:a16="http://schemas.microsoft.com/office/drawing/2014/main" id="{DF296F80-E9A8-41AD-9B96-93258099A6E7}"/>
              </a:ext>
            </a:extLst>
          </p:cNvPr>
          <p:cNvSpPr>
            <a:spLocks noGrp="1"/>
          </p:cNvSpPr>
          <p:nvPr/>
        </p:nvSpPr>
        <p:spPr>
          <a:xfrm>
            <a:off x="685800" y="295275"/>
            <a:ext cx="8953500" cy="342900"/>
          </a:xfrm>
          <a:prstGeom prst="rect">
            <a:avLst/>
          </a:prstGeom>
          <a:noFill/>
          <a:ln w="0">
            <a:noFill/>
          </a:ln>
        </p:spPr>
        <p:txBody>
          <a:bodyPr>
            <a:noAutofit/>
          </a:bodyPr>
          <a:lstStyle/>
          <a:p>
            <a:pPr>
              <a:defRPr sz="1275" b="1">
                <a:solidFill>
                  <a:srgbClr val="29467F"/>
                </a:solidFill>
                <a:latin typeface="Avenir Next"/>
                <a:ea typeface="Avenir Next"/>
                <a:cs typeface="Avenir Next"/>
              </a:defRPr>
            </a:pPr>
            <a:r>
              <a:rPr sz="1275" b="1">
                <a:solidFill>
                  <a:srgbClr val="29467F"/>
                </a:solidFill>
                <a:latin typeface="Avenir Next"/>
                <a:ea typeface="Avenir Next"/>
                <a:cs typeface="Avenir Next"/>
              </a:rPr>
              <a:t>SUPERVISING AI AGENTS IN RESEARCH</a:t>
            </a:r>
          </a:p>
        </p:txBody>
      </p:sp>
      <p:pic>
        <p:nvPicPr>
          <p:cNvPr id="14" name="Picture 13"/>
          <p:cNvPicPr>
            <a:picLocks noChangeAspect="1"/>
          </p:cNvPicPr>
          <p:nvPr/>
        </p:nvPicPr>
        <p:blipFill>
          <a:blip r:embed="rId3"/>
          <a:stretch/>
        </p:blipFill>
        <p:spPr>
          <a:xfrm>
            <a:off x="10287012" y="219075"/>
            <a:ext cx="1219177" cy="473869"/>
          </a:xfrm>
          <a:prstGeom prst="rect">
            <a:avLst/>
          </a:prstGeom>
        </p:spPr>
      </p:pic>
      <p:sp>
        <p:nvSpPr>
          <p:cNvPr id="3" name="orange-accent">
            <a:extLst>
              <a:ext uri="{FF2B5EF4-FFF2-40B4-BE49-F238E27FC236}">
                <a16:creationId xmlns:a16="http://schemas.microsoft.com/office/drawing/2014/main" id="{36542320-B64E-4609-B3F0-7DC1F2F0895C}"/>
              </a:ext>
            </a:extLst>
          </p:cNvPr>
          <p:cNvSpPr>
            <a:spLocks noGrp="1"/>
          </p:cNvSpPr>
          <p:nvPr/>
        </p:nvSpPr>
        <p:spPr>
          <a:xfrm>
            <a:off x="685800" y="742950"/>
            <a:ext cx="609600" cy="38100"/>
          </a:xfrm>
          <a:prstGeom prst="rect">
            <a:avLst/>
          </a:prstGeom>
          <a:solidFill>
            <a:srgbClr val="D96500"/>
          </a:solidFill>
          <a:ln w="0">
            <a:noFill/>
          </a:ln>
        </p:spPr>
        <p:txBody>
          <a:bodyPr/>
          <a:lstStyle/>
          <a:p>
            <a:endParaRPr lang="en-GB"/>
          </a:p>
        </p:txBody>
      </p:sp>
      <p:sp>
        <p:nvSpPr>
          <p:cNvPr id="4" name="title">
            <a:extLst>
              <a:ext uri="{FF2B5EF4-FFF2-40B4-BE49-F238E27FC236}">
                <a16:creationId xmlns:a16="http://schemas.microsoft.com/office/drawing/2014/main" id="{D87261E0-70B5-47F8-8151-E249AEF3FCAD}"/>
              </a:ext>
            </a:extLst>
          </p:cNvPr>
          <p:cNvSpPr>
            <a:spLocks noGrp="1"/>
          </p:cNvSpPr>
          <p:nvPr/>
        </p:nvSpPr>
        <p:spPr>
          <a:xfrm>
            <a:off x="666750" y="923925"/>
            <a:ext cx="10858500" cy="1028700"/>
          </a:xfrm>
          <a:prstGeom prst="rect">
            <a:avLst/>
          </a:prstGeom>
          <a:noFill/>
          <a:ln w="0">
            <a:noFill/>
          </a:ln>
        </p:spPr>
        <p:txBody>
          <a:bodyPr>
            <a:noAutofit/>
          </a:bodyPr>
          <a:lstStyle/>
          <a:p>
            <a:pPr>
              <a:defRPr sz="3300" b="1">
                <a:solidFill>
                  <a:srgbClr val="29467F"/>
                </a:solidFill>
                <a:latin typeface="Avenir Next"/>
                <a:ea typeface="Avenir Next"/>
                <a:cs typeface="Avenir Next"/>
              </a:defRPr>
            </a:pPr>
            <a:r>
              <a:rPr sz="3300" b="1">
                <a:solidFill>
                  <a:srgbClr val="29467F"/>
                </a:solidFill>
                <a:latin typeface="Avenir Next"/>
                <a:ea typeface="Avenir Next"/>
                <a:cs typeface="Avenir Next"/>
              </a:rPr>
              <a:t>Four skills for supervising an agent</a:t>
            </a:r>
          </a:p>
        </p:txBody>
      </p:sp>
      <p:graphicFrame>
        <p:nvGraphicFramePr>
          <p:cNvPr id="17" name="Table 16"/>
          <p:cNvGraphicFramePr/>
          <p:nvPr/>
        </p:nvGraphicFramePr>
        <p:xfrm>
          <a:off x="685800" y="2085975"/>
          <a:ext cx="7772400" cy="3333750"/>
        </p:xfrm>
        <a:graphic>
          <a:graphicData uri="http://schemas.openxmlformats.org/drawingml/2006/table">
            <a:tbl>
              <a:tblPr/>
              <a:tblGrid>
                <a:gridCol w="2381250">
                  <a:extLst>
                    <a:ext uri="{9D8B030D-6E8A-4147-A177-3AD203B41FA5}">
                      <a16:colId xmlns:a16="http://schemas.microsoft.com/office/drawing/2014/main" val="20000"/>
                    </a:ext>
                  </a:extLst>
                </a:gridCol>
                <a:gridCol w="5391150">
                  <a:extLst>
                    <a:ext uri="{9D8B030D-6E8A-4147-A177-3AD203B41FA5}">
                      <a16:colId xmlns:a16="http://schemas.microsoft.com/office/drawing/2014/main" val="20001"/>
                    </a:ext>
                  </a:extLst>
                </a:gridCol>
              </a:tblGrid>
              <a:tr h="666750">
                <a:tc>
                  <a:txBody>
                    <a:bodyPr/>
                    <a:lstStyle/>
                    <a:p>
                      <a:r>
                        <a:rPr sz="1875" b="1">
                          <a:solidFill>
                            <a:srgbClr val="29467F"/>
                          </a:solidFill>
                          <a:latin typeface="Avenir Next"/>
                          <a:ea typeface="Avenir Next"/>
                          <a:cs typeface="Avenir Next"/>
                        </a:rPr>
                        <a:t>Skill</a:t>
                      </a:r>
                    </a:p>
                  </a:txBody>
                  <a:tcPr>
                    <a:solidFill>
                      <a:srgbClr val="DCE3EF"/>
                    </a:solidFill>
                  </a:tcPr>
                </a:tc>
                <a:tc>
                  <a:txBody>
                    <a:bodyPr/>
                    <a:lstStyle/>
                    <a:p>
                      <a:r>
                        <a:rPr sz="1875" b="1">
                          <a:solidFill>
                            <a:srgbClr val="29467F"/>
                          </a:solidFill>
                          <a:latin typeface="Avenir Next"/>
                          <a:ea typeface="Avenir Next"/>
                          <a:cs typeface="Avenir Next"/>
                        </a:rPr>
                        <a:t>What you review</a:t>
                      </a:r>
                    </a:p>
                  </a:txBody>
                  <a:tcPr>
                    <a:solidFill>
                      <a:srgbClr val="DCE3EF"/>
                    </a:solidFill>
                  </a:tcPr>
                </a:tc>
                <a:extLst>
                  <a:ext uri="{0D108BD9-81ED-4DB2-BD59-A6C34878D82A}">
                    <a16:rowId xmlns:a16="http://schemas.microsoft.com/office/drawing/2014/main" val="10000"/>
                  </a:ext>
                </a:extLst>
              </a:tr>
              <a:tr h="666750">
                <a:tc>
                  <a:txBody>
                    <a:bodyPr/>
                    <a:lstStyle/>
                    <a:p>
                      <a:r>
                        <a:rPr sz="1875" b="0">
                          <a:solidFill>
                            <a:srgbClr val="000000"/>
                          </a:solidFill>
                          <a:latin typeface="Avenir Next"/>
                          <a:ea typeface="Avenir Next"/>
                          <a:cs typeface="Avenir Next"/>
                        </a:rPr>
                        <a:t>grill-with-docs</a:t>
                      </a:r>
                    </a:p>
                  </a:txBody>
                  <a:tcPr>
                    <a:solidFill>
                      <a:srgbClr val="FFFFFF"/>
                    </a:solidFill>
                  </a:tcPr>
                </a:tc>
                <a:tc>
                  <a:txBody>
                    <a:bodyPr/>
                    <a:lstStyle/>
                    <a:p>
                      <a:r>
                        <a:rPr sz="1875" b="0">
                          <a:solidFill>
                            <a:srgbClr val="000000"/>
                          </a:solidFill>
                          <a:latin typeface="Avenir Next"/>
                          <a:ea typeface="Avenir Next"/>
                          <a:cs typeface="Avenir Next"/>
                        </a:rPr>
                        <a:t>Assumptions and shared understanding</a:t>
                      </a:r>
                    </a:p>
                  </a:txBody>
                  <a:tcPr>
                    <a:solidFill>
                      <a:srgbClr val="FFFFFF"/>
                    </a:solidFill>
                  </a:tcPr>
                </a:tc>
                <a:extLst>
                  <a:ext uri="{0D108BD9-81ED-4DB2-BD59-A6C34878D82A}">
                    <a16:rowId xmlns:a16="http://schemas.microsoft.com/office/drawing/2014/main" val="10001"/>
                  </a:ext>
                </a:extLst>
              </a:tr>
              <a:tr h="666750">
                <a:tc>
                  <a:txBody>
                    <a:bodyPr/>
                    <a:lstStyle/>
                    <a:p>
                      <a:r>
                        <a:rPr sz="1875" b="0">
                          <a:solidFill>
                            <a:srgbClr val="000000"/>
                          </a:solidFill>
                          <a:latin typeface="Avenir Next"/>
                          <a:ea typeface="Avenir Next"/>
                          <a:cs typeface="Avenir Next"/>
                        </a:rPr>
                        <a:t>to-spec</a:t>
                      </a:r>
                    </a:p>
                  </a:txBody>
                  <a:tcPr>
                    <a:solidFill>
                      <a:srgbClr val="F1F4F8"/>
                    </a:solidFill>
                  </a:tcPr>
                </a:tc>
                <a:tc>
                  <a:txBody>
                    <a:bodyPr/>
                    <a:lstStyle/>
                    <a:p>
                      <a:r>
                        <a:rPr sz="1875" b="0">
                          <a:solidFill>
                            <a:srgbClr val="000000"/>
                          </a:solidFill>
                          <a:latin typeface="Avenir Next"/>
                          <a:ea typeface="Avenir Next"/>
                          <a:cs typeface="Avenir Next"/>
                        </a:rPr>
                        <a:t>Scope and observable requirements</a:t>
                      </a:r>
                    </a:p>
                  </a:txBody>
                  <a:tcPr>
                    <a:solidFill>
                      <a:srgbClr val="F1F4F8"/>
                    </a:solidFill>
                  </a:tcPr>
                </a:tc>
                <a:extLst>
                  <a:ext uri="{0D108BD9-81ED-4DB2-BD59-A6C34878D82A}">
                    <a16:rowId xmlns:a16="http://schemas.microsoft.com/office/drawing/2014/main" val="10002"/>
                  </a:ext>
                </a:extLst>
              </a:tr>
              <a:tr h="666750">
                <a:tc>
                  <a:txBody>
                    <a:bodyPr/>
                    <a:lstStyle/>
                    <a:p>
                      <a:r>
                        <a:rPr sz="1875" b="0">
                          <a:solidFill>
                            <a:srgbClr val="000000"/>
                          </a:solidFill>
                          <a:latin typeface="Avenir Next"/>
                          <a:ea typeface="Avenir Next"/>
                          <a:cs typeface="Avenir Next"/>
                        </a:rPr>
                        <a:t>to-tickets</a:t>
                      </a:r>
                    </a:p>
                  </a:txBody>
                  <a:tcPr>
                    <a:solidFill>
                      <a:srgbClr val="FFFFFF"/>
                    </a:solidFill>
                  </a:tcPr>
                </a:tc>
                <a:tc>
                  <a:txBody>
                    <a:bodyPr/>
                    <a:lstStyle/>
                    <a:p>
                      <a:r>
                        <a:rPr sz="1875" b="0">
                          <a:solidFill>
                            <a:srgbClr val="000000"/>
                          </a:solidFill>
                          <a:latin typeface="Avenir Next"/>
                          <a:ea typeface="Avenir Next"/>
                          <a:cs typeface="Avenir Next"/>
                        </a:rPr>
                        <a:t>Small tasks and their dependencies</a:t>
                      </a:r>
                    </a:p>
                  </a:txBody>
                  <a:tcPr>
                    <a:solidFill>
                      <a:srgbClr val="FFFFFF"/>
                    </a:solidFill>
                  </a:tcPr>
                </a:tc>
                <a:extLst>
                  <a:ext uri="{0D108BD9-81ED-4DB2-BD59-A6C34878D82A}">
                    <a16:rowId xmlns:a16="http://schemas.microsoft.com/office/drawing/2014/main" val="10003"/>
                  </a:ext>
                </a:extLst>
              </a:tr>
              <a:tr h="666750">
                <a:tc>
                  <a:txBody>
                    <a:bodyPr/>
                    <a:lstStyle/>
                    <a:p>
                      <a:r>
                        <a:rPr sz="1875" b="0">
                          <a:solidFill>
                            <a:srgbClr val="000000"/>
                          </a:solidFill>
                          <a:latin typeface="Avenir Next"/>
                          <a:ea typeface="Avenir Next"/>
                          <a:cs typeface="Avenir Next"/>
                        </a:rPr>
                        <a:t>implement</a:t>
                      </a:r>
                    </a:p>
                  </a:txBody>
                  <a:tcPr>
                    <a:solidFill>
                      <a:srgbClr val="F1F4F8"/>
                    </a:solidFill>
                  </a:tcPr>
                </a:tc>
                <a:tc>
                  <a:txBody>
                    <a:bodyPr/>
                    <a:lstStyle/>
                    <a:p>
                      <a:r>
                        <a:rPr sz="1875" b="0">
                          <a:solidFill>
                            <a:srgbClr val="000000"/>
                          </a:solidFill>
                          <a:latin typeface="Avenir Next"/>
                          <a:ea typeface="Avenir Next"/>
                          <a:cs typeface="Avenir Next"/>
                        </a:rPr>
                        <a:t>Changes, checks and supporting evidence</a:t>
                      </a:r>
                    </a:p>
                  </a:txBody>
                  <a:tcPr>
                    <a:solidFill>
                      <a:srgbClr val="F1F4F8"/>
                    </a:solidFill>
                  </a:tcPr>
                </a:tc>
                <a:extLst>
                  <a:ext uri="{0D108BD9-81ED-4DB2-BD59-A6C34878D82A}">
                    <a16:rowId xmlns:a16="http://schemas.microsoft.com/office/drawing/2014/main" val="10004"/>
                  </a:ext>
                </a:extLst>
              </a:tr>
            </a:tbl>
          </a:graphicData>
        </a:graphic>
      </p:graphicFrame>
      <p:pic>
        <p:nvPicPr>
          <p:cNvPr id="18" name="Picture 17"/>
          <p:cNvPicPr>
            <a:picLocks noChangeAspect="1"/>
          </p:cNvPicPr>
          <p:nvPr/>
        </p:nvPicPr>
        <p:blipFill>
          <a:blip r:embed="rId4"/>
          <a:stretch/>
        </p:blipFill>
        <p:spPr>
          <a:xfrm>
            <a:off x="8924925" y="2352675"/>
            <a:ext cx="2343150" cy="2343150"/>
          </a:xfrm>
          <a:prstGeom prst="rect">
            <a:avLst/>
          </a:prstGeom>
        </p:spPr>
      </p:pic>
      <p:sp>
        <p:nvSpPr>
          <p:cNvPr id="7" name="qr-label">
            <a:extLst>
              <a:ext uri="{FF2B5EF4-FFF2-40B4-BE49-F238E27FC236}">
                <a16:creationId xmlns:a16="http://schemas.microsoft.com/office/drawing/2014/main" id="{A8E5532E-7810-47FF-96FC-53F341D8A394}"/>
              </a:ext>
            </a:extLst>
          </p:cNvPr>
          <p:cNvSpPr>
            <a:spLocks noGrp="1"/>
          </p:cNvSpPr>
          <p:nvPr/>
        </p:nvSpPr>
        <p:spPr>
          <a:xfrm>
            <a:off x="8953500" y="4905375"/>
            <a:ext cx="2514600" cy="704850"/>
          </a:xfrm>
          <a:prstGeom prst="rect">
            <a:avLst/>
          </a:prstGeom>
          <a:noFill/>
          <a:ln w="0">
            <a:noFill/>
          </a:ln>
        </p:spPr>
        <p:txBody>
          <a:bodyPr>
            <a:noAutofit/>
          </a:bodyPr>
          <a:lstStyle/>
          <a:p>
            <a:pPr>
              <a:defRPr sz="1800" b="1">
                <a:solidFill>
                  <a:srgbClr val="29467F"/>
                </a:solidFill>
                <a:latin typeface="Avenir Next"/>
                <a:ea typeface="Avenir Next"/>
                <a:cs typeface="Avenir Next"/>
              </a:defRPr>
            </a:pPr>
            <a:r>
              <a:rPr sz="1800" b="1">
                <a:solidFill>
                  <a:srgbClr val="29467F"/>
                </a:solidFill>
                <a:latin typeface="Avenir Next"/>
                <a:ea typeface="Avenir Next"/>
                <a:cs typeface="Avenir Next"/>
              </a:rPr>
              <a:t>Matt Pocock’s</a:t>
            </a:r>
          </a:p>
          <a:p>
            <a:pPr>
              <a:defRPr sz="1800" b="1">
                <a:solidFill>
                  <a:srgbClr val="29467F"/>
                </a:solidFill>
                <a:latin typeface="Avenir Next"/>
                <a:ea typeface="Avenir Next"/>
                <a:cs typeface="Avenir Next"/>
              </a:defRPr>
            </a:pPr>
            <a:r>
              <a:rPr sz="1800" b="1">
                <a:solidFill>
                  <a:srgbClr val="29467F"/>
                </a:solidFill>
                <a:latin typeface="Avenir Next"/>
                <a:ea typeface="Avenir Next"/>
                <a:cs typeface="Avenir Next"/>
              </a:rPr>
              <a:t>skills repository</a:t>
            </a:r>
          </a:p>
        </p:txBody>
      </p:sp>
      <p:sp>
        <p:nvSpPr>
          <p:cNvPr id="8" name="disclosure">
            <a:extLst>
              <a:ext uri="{FF2B5EF4-FFF2-40B4-BE49-F238E27FC236}">
                <a16:creationId xmlns:a16="http://schemas.microsoft.com/office/drawing/2014/main" id="{83A86264-0D78-4DA5-B8C4-3A5A6CB07317}"/>
              </a:ext>
            </a:extLst>
          </p:cNvPr>
          <p:cNvSpPr>
            <a:spLocks noGrp="1"/>
          </p:cNvSpPr>
          <p:nvPr/>
        </p:nvSpPr>
        <p:spPr>
          <a:xfrm>
            <a:off x="704850" y="5734050"/>
            <a:ext cx="10744200" cy="457200"/>
          </a:xfrm>
          <a:prstGeom prst="rect">
            <a:avLst/>
          </a:prstGeom>
          <a:noFill/>
          <a:ln w="0">
            <a:noFill/>
          </a:ln>
        </p:spPr>
        <p:txBody>
          <a:bodyPr>
            <a:noAutofit/>
          </a:bodyPr>
          <a:lstStyle/>
          <a:p>
            <a:pPr>
              <a:defRPr sz="1650" b="1">
                <a:solidFill>
                  <a:srgbClr val="29467F"/>
                </a:solidFill>
                <a:latin typeface="Avenir Next"/>
                <a:ea typeface="Avenir Next"/>
                <a:cs typeface="Avenir Next"/>
              </a:defRPr>
            </a:pPr>
            <a:r>
              <a:rPr sz="1650" b="1">
                <a:solidFill>
                  <a:srgbClr val="29467F"/>
                </a:solidFill>
                <a:latin typeface="Avenir Next"/>
                <a:ea typeface="Avenir Next"/>
                <a:cs typeface="Avenir Next"/>
              </a:rPr>
              <a:t>Adapted for research from Matt Pocock’s skills</a:t>
            </a:r>
          </a:p>
        </p:txBody>
      </p:sp>
      <p:sp>
        <p:nvSpPr>
          <p:cNvPr id="9" name="source-link">
            <a:extLst>
              <a:ext uri="{FF2B5EF4-FFF2-40B4-BE49-F238E27FC236}">
                <a16:creationId xmlns:a16="http://schemas.microsoft.com/office/drawing/2014/main" id="{4F374658-8CC4-4F5C-9B44-5DC004ACE27F}"/>
              </a:ext>
            </a:extLst>
          </p:cNvPr>
          <p:cNvSpPr>
            <a:spLocks noGrp="1"/>
          </p:cNvSpPr>
          <p:nvPr/>
        </p:nvSpPr>
        <p:spPr>
          <a:xfrm>
            <a:off x="704850" y="6124575"/>
            <a:ext cx="10477500" cy="342900"/>
          </a:xfrm>
          <a:prstGeom prst="rect">
            <a:avLst/>
          </a:prstGeom>
          <a:noFill/>
          <a:ln w="0">
            <a:noFill/>
          </a:ln>
        </p:spPr>
        <p:txBody>
          <a:bodyPr>
            <a:noAutofit/>
          </a:bodyPr>
          <a:lstStyle/>
          <a:p>
            <a:pPr>
              <a:defRPr sz="1725" b="0">
                <a:solidFill>
                  <a:srgbClr val="29467F"/>
                </a:solidFill>
                <a:latin typeface="Avenir Next"/>
                <a:ea typeface="Avenir Next"/>
                <a:cs typeface="Avenir Next"/>
              </a:defRPr>
            </a:pPr>
            <a:r>
              <a:rPr sz="1725" b="0">
                <a:solidFill>
                  <a:srgbClr val="29467F"/>
                </a:solidFill>
                <a:latin typeface="Avenir Next"/>
                <a:ea typeface="Avenir Next"/>
                <a:cs typeface="Avenir Next"/>
                <a:hlinkClick r:id="rId5"/>
              </a:rPr>
              <a:t>github.com/mattpocock/skills</a:t>
            </a:r>
          </a:p>
        </p:txBody>
      </p:sp>
      <p:sp>
        <p:nvSpPr>
          <p:cNvPr id="10" name="footer-rule">
            <a:extLst>
              <a:ext uri="{FF2B5EF4-FFF2-40B4-BE49-F238E27FC236}">
                <a16:creationId xmlns:a16="http://schemas.microsoft.com/office/drawing/2014/main" id="{91ED76A0-B1AE-44DB-B95F-C8FCEB9332DF}"/>
              </a:ext>
            </a:extLst>
          </p:cNvPr>
          <p:cNvSpPr>
            <a:spLocks noGrp="1"/>
          </p:cNvSpPr>
          <p:nvPr/>
        </p:nvSpPr>
        <p:spPr>
          <a:xfrm>
            <a:off x="685800" y="6515100"/>
            <a:ext cx="10820400" cy="9525"/>
          </a:xfrm>
          <a:prstGeom prst="rect">
            <a:avLst/>
          </a:prstGeom>
          <a:solidFill>
            <a:srgbClr val="DCE3EF"/>
          </a:solidFill>
          <a:ln w="0">
            <a:noFill/>
          </a:ln>
        </p:spPr>
        <p:txBody>
          <a:bodyPr/>
          <a:lstStyle/>
          <a:p>
            <a:endParaRPr lang="en-GB"/>
          </a:p>
        </p:txBody>
      </p:sp>
      <p:sp>
        <p:nvSpPr>
          <p:cNvPr id="11" name="footer">
            <a:extLst>
              <a:ext uri="{FF2B5EF4-FFF2-40B4-BE49-F238E27FC236}">
                <a16:creationId xmlns:a16="http://schemas.microsoft.com/office/drawing/2014/main" id="{64341405-C8FE-4A0F-AFD4-585DB2E293F1}"/>
              </a:ext>
            </a:extLst>
          </p:cNvPr>
          <p:cNvSpPr>
            <a:spLocks noGrp="1"/>
          </p:cNvSpPr>
          <p:nvPr/>
        </p:nvSpPr>
        <p:spPr>
          <a:xfrm>
            <a:off x="685800" y="6553200"/>
            <a:ext cx="9525000" cy="228600"/>
          </a:xfrm>
          <a:prstGeom prst="rect">
            <a:avLst/>
          </a:prstGeom>
          <a:noFill/>
          <a:ln w="0">
            <a:noFill/>
          </a:ln>
        </p:spPr>
        <p:txBody>
          <a:bodyPr>
            <a:noAutofit/>
          </a:bodyPr>
          <a:lstStyle/>
          <a:p>
            <a:pPr>
              <a:defRPr sz="900" b="0">
                <a:solidFill>
                  <a:srgbClr val="29467F"/>
                </a:solidFill>
                <a:latin typeface="Avenir Next"/>
                <a:ea typeface="Avenir Next"/>
                <a:cs typeface="Avenir Next"/>
              </a:defRPr>
            </a:pPr>
            <a:r>
              <a:rPr sz="900" b="0">
                <a:solidFill>
                  <a:srgbClr val="29467F"/>
                </a:solidFill>
                <a:latin typeface="Avenir Next"/>
                <a:ea typeface="Avenir Next"/>
                <a:cs typeface="Avenir Next"/>
              </a:rPr>
              <a:t>AHRI  /  AI AGENT OVERSIGHT</a:t>
            </a:r>
          </a:p>
        </p:txBody>
      </p:sp>
      <p:sp>
        <p:nvSpPr>
          <p:cNvPr id="12" name="slide-number">
            <a:extLst>
              <a:ext uri="{FF2B5EF4-FFF2-40B4-BE49-F238E27FC236}">
                <a16:creationId xmlns:a16="http://schemas.microsoft.com/office/drawing/2014/main" id="{C41A6F3F-1571-43C7-8A61-66651E8528D2}"/>
              </a:ext>
            </a:extLst>
          </p:cNvPr>
          <p:cNvSpPr>
            <a:spLocks noGrp="1"/>
          </p:cNvSpPr>
          <p:nvPr/>
        </p:nvSpPr>
        <p:spPr>
          <a:xfrm>
            <a:off x="11258550" y="6534150"/>
            <a:ext cx="400050" cy="247650"/>
          </a:xfrm>
          <a:prstGeom prst="rect">
            <a:avLst/>
          </a:prstGeom>
          <a:noFill/>
          <a:ln w="0">
            <a:noFill/>
          </a:ln>
        </p:spPr>
        <p:txBody>
          <a:bodyPr>
            <a:noAutofit/>
          </a:bodyPr>
          <a:lstStyle/>
          <a:p>
            <a:pPr>
              <a:defRPr sz="1200" b="0">
                <a:solidFill>
                  <a:srgbClr val="29467F"/>
                </a:solidFill>
                <a:latin typeface="Avenir Next"/>
                <a:ea typeface="Avenir Next"/>
                <a:cs typeface="Avenir Next"/>
              </a:defRPr>
            </a:pPr>
            <a:r>
              <a:rPr sz="1200" b="0">
                <a:solidFill>
                  <a:srgbClr val="29467F"/>
                </a:solidFill>
                <a:latin typeface="Avenir Next"/>
                <a:ea typeface="Avenir Next"/>
                <a:cs typeface="Avenir Next"/>
              </a:rPr>
              <a:t>02</a:t>
            </a:r>
          </a:p>
        </p:txBody>
      </p:sp>
    </p:spTree>
    <p:extLst>
      <p:ext uri="{BB962C8B-B14F-4D97-AF65-F5344CB8AC3E}">
        <p14:creationId xmlns:p14="http://schemas.microsoft.com/office/powerpoint/2010/main" val="6830172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section">
            <a:extLst>
              <a:ext uri="{FF2B5EF4-FFF2-40B4-BE49-F238E27FC236}">
                <a16:creationId xmlns:a16="http://schemas.microsoft.com/office/drawing/2014/main" id="{8491A5F0-EC62-45DD-AD26-555E4F8330BF}"/>
              </a:ext>
            </a:extLst>
          </p:cNvPr>
          <p:cNvSpPr>
            <a:spLocks noGrp="1"/>
          </p:cNvSpPr>
          <p:nvPr/>
        </p:nvSpPr>
        <p:spPr>
          <a:xfrm>
            <a:off x="685800" y="295275"/>
            <a:ext cx="8953500" cy="342900"/>
          </a:xfrm>
          <a:prstGeom prst="rect">
            <a:avLst/>
          </a:prstGeom>
          <a:noFill/>
          <a:ln w="0">
            <a:noFill/>
          </a:ln>
        </p:spPr>
        <p:txBody>
          <a:bodyPr>
            <a:noAutofit/>
          </a:bodyPr>
          <a:lstStyle/>
          <a:p>
            <a:pPr>
              <a:defRPr sz="1275" b="1">
                <a:solidFill>
                  <a:srgbClr val="29467F"/>
                </a:solidFill>
                <a:latin typeface="Avenir Next"/>
                <a:ea typeface="Avenir Next"/>
                <a:cs typeface="Avenir Next"/>
              </a:defRPr>
            </a:pPr>
            <a:r>
              <a:rPr sz="1275" b="1">
                <a:solidFill>
                  <a:srgbClr val="29467F"/>
                </a:solidFill>
                <a:latin typeface="Avenir Next"/>
                <a:ea typeface="Avenir Next"/>
                <a:cs typeface="Avenir Next"/>
              </a:rPr>
              <a:t>SUPERVISING AI AGENTS IN RESEARCH</a:t>
            </a:r>
          </a:p>
        </p:txBody>
      </p:sp>
      <p:pic>
        <p:nvPicPr>
          <p:cNvPr id="10" name="Picture 9"/>
          <p:cNvPicPr>
            <a:picLocks noChangeAspect="1"/>
          </p:cNvPicPr>
          <p:nvPr/>
        </p:nvPicPr>
        <p:blipFill>
          <a:blip r:embed="rId3"/>
          <a:stretch/>
        </p:blipFill>
        <p:spPr>
          <a:xfrm>
            <a:off x="10287012" y="219075"/>
            <a:ext cx="1219177" cy="473869"/>
          </a:xfrm>
          <a:prstGeom prst="rect">
            <a:avLst/>
          </a:prstGeom>
        </p:spPr>
      </p:pic>
      <p:sp>
        <p:nvSpPr>
          <p:cNvPr id="3" name="orange-accent">
            <a:extLst>
              <a:ext uri="{FF2B5EF4-FFF2-40B4-BE49-F238E27FC236}">
                <a16:creationId xmlns:a16="http://schemas.microsoft.com/office/drawing/2014/main" id="{462CAC65-0678-4AA9-8399-E7BE176FFF1E}"/>
              </a:ext>
            </a:extLst>
          </p:cNvPr>
          <p:cNvSpPr>
            <a:spLocks noGrp="1"/>
          </p:cNvSpPr>
          <p:nvPr/>
        </p:nvSpPr>
        <p:spPr>
          <a:xfrm>
            <a:off x="685800" y="742950"/>
            <a:ext cx="609600" cy="38100"/>
          </a:xfrm>
          <a:prstGeom prst="rect">
            <a:avLst/>
          </a:prstGeom>
          <a:solidFill>
            <a:srgbClr val="D96500"/>
          </a:solidFill>
          <a:ln w="0">
            <a:noFill/>
          </a:ln>
        </p:spPr>
        <p:txBody>
          <a:bodyPr/>
          <a:lstStyle/>
          <a:p>
            <a:endParaRPr lang="en-GB"/>
          </a:p>
        </p:txBody>
      </p:sp>
      <p:sp>
        <p:nvSpPr>
          <p:cNvPr id="4" name="title">
            <a:extLst>
              <a:ext uri="{FF2B5EF4-FFF2-40B4-BE49-F238E27FC236}">
                <a16:creationId xmlns:a16="http://schemas.microsoft.com/office/drawing/2014/main" id="{4C13F6A2-FEC8-4352-88E5-271AFDE4AC5B}"/>
              </a:ext>
            </a:extLst>
          </p:cNvPr>
          <p:cNvSpPr>
            <a:spLocks noGrp="1"/>
          </p:cNvSpPr>
          <p:nvPr/>
        </p:nvSpPr>
        <p:spPr>
          <a:xfrm>
            <a:off x="666750" y="923925"/>
            <a:ext cx="10858500" cy="1028700"/>
          </a:xfrm>
          <a:prstGeom prst="rect">
            <a:avLst/>
          </a:prstGeom>
          <a:noFill/>
          <a:ln w="0">
            <a:noFill/>
          </a:ln>
        </p:spPr>
        <p:txBody>
          <a:bodyPr>
            <a:noAutofit/>
          </a:bodyPr>
          <a:lstStyle/>
          <a:p>
            <a:pPr>
              <a:defRPr sz="3300" b="1">
                <a:solidFill>
                  <a:srgbClr val="29467F"/>
                </a:solidFill>
                <a:latin typeface="Avenir Next"/>
                <a:ea typeface="Avenir Next"/>
                <a:cs typeface="Avenir Next"/>
              </a:defRPr>
            </a:pPr>
            <a:r>
              <a:rPr sz="3300" b="1">
                <a:solidFill>
                  <a:srgbClr val="29467F"/>
                </a:solidFill>
                <a:latin typeface="Avenir Next"/>
                <a:ea typeface="Avenir Next"/>
                <a:cs typeface="Avenir Next"/>
              </a:rPr>
              <a:t>The agent's working environment</a:t>
            </a:r>
          </a:p>
        </p:txBody>
      </p:sp>
      <p:graphicFrame>
        <p:nvGraphicFramePr>
          <p:cNvPr id="13" name="Table 12"/>
          <p:cNvGraphicFramePr/>
          <p:nvPr/>
        </p:nvGraphicFramePr>
        <p:xfrm>
          <a:off x="685800" y="2085975"/>
          <a:ext cx="10820400" cy="3333750"/>
        </p:xfrm>
        <a:graphic>
          <a:graphicData uri="http://schemas.openxmlformats.org/drawingml/2006/table">
            <a:tbl>
              <a:tblPr/>
              <a:tblGrid>
                <a:gridCol w="3714750">
                  <a:extLst>
                    <a:ext uri="{9D8B030D-6E8A-4147-A177-3AD203B41FA5}">
                      <a16:colId xmlns:a16="http://schemas.microsoft.com/office/drawing/2014/main" val="20000"/>
                    </a:ext>
                  </a:extLst>
                </a:gridCol>
                <a:gridCol w="7105650">
                  <a:extLst>
                    <a:ext uri="{9D8B030D-6E8A-4147-A177-3AD203B41FA5}">
                      <a16:colId xmlns:a16="http://schemas.microsoft.com/office/drawing/2014/main" val="20001"/>
                    </a:ext>
                  </a:extLst>
                </a:gridCol>
              </a:tblGrid>
              <a:tr h="666750">
                <a:tc>
                  <a:txBody>
                    <a:bodyPr/>
                    <a:lstStyle/>
                    <a:p>
                      <a:r>
                        <a:rPr sz="1950" b="1">
                          <a:solidFill>
                            <a:srgbClr val="29467F"/>
                          </a:solidFill>
                          <a:latin typeface="Avenir Next"/>
                          <a:ea typeface="Avenir Next"/>
                          <a:cs typeface="Avenir Next"/>
                        </a:rPr>
                        <a:t>Part</a:t>
                      </a:r>
                    </a:p>
                  </a:txBody>
                  <a:tcPr>
                    <a:solidFill>
                      <a:srgbClr val="DCE3EF"/>
                    </a:solidFill>
                  </a:tcPr>
                </a:tc>
                <a:tc>
                  <a:txBody>
                    <a:bodyPr/>
                    <a:lstStyle/>
                    <a:p>
                      <a:r>
                        <a:rPr sz="1950" b="1">
                          <a:solidFill>
                            <a:srgbClr val="29467F"/>
                          </a:solidFill>
                          <a:latin typeface="Avenir Next"/>
                          <a:ea typeface="Avenir Next"/>
                          <a:cs typeface="Avenir Next"/>
                        </a:rPr>
                        <a:t>What it contributes</a:t>
                      </a:r>
                    </a:p>
                  </a:txBody>
                  <a:tcPr>
                    <a:solidFill>
                      <a:srgbClr val="DCE3EF"/>
                    </a:solidFill>
                  </a:tcPr>
                </a:tc>
                <a:extLst>
                  <a:ext uri="{0D108BD9-81ED-4DB2-BD59-A6C34878D82A}">
                    <a16:rowId xmlns:a16="http://schemas.microsoft.com/office/drawing/2014/main" val="10000"/>
                  </a:ext>
                </a:extLst>
              </a:tr>
              <a:tr h="666750">
                <a:tc>
                  <a:txBody>
                    <a:bodyPr/>
                    <a:lstStyle/>
                    <a:p>
                      <a:r>
                        <a:rPr sz="1950" b="0">
                          <a:solidFill>
                            <a:srgbClr val="000000"/>
                          </a:solidFill>
                          <a:latin typeface="Avenir Next"/>
                          <a:ea typeface="Avenir Next"/>
                          <a:cs typeface="Avenir Next"/>
                        </a:rPr>
                        <a:t>Model</a:t>
                      </a:r>
                    </a:p>
                  </a:txBody>
                  <a:tcPr>
                    <a:solidFill>
                      <a:srgbClr val="FFFFFF"/>
                    </a:solidFill>
                  </a:tcPr>
                </a:tc>
                <a:tc>
                  <a:txBody>
                    <a:bodyPr/>
                    <a:lstStyle/>
                    <a:p>
                      <a:r>
                        <a:rPr sz="1950" b="0">
                          <a:solidFill>
                            <a:srgbClr val="000000"/>
                          </a:solidFill>
                          <a:latin typeface="Avenir Next"/>
                          <a:ea typeface="Avenir Next"/>
                          <a:cs typeface="Avenir Next"/>
                        </a:rPr>
                        <a:t>Proposes text, code and next actions</a:t>
                      </a:r>
                    </a:p>
                  </a:txBody>
                  <a:tcPr>
                    <a:solidFill>
                      <a:srgbClr val="FFFFFF"/>
                    </a:solidFill>
                  </a:tcPr>
                </a:tc>
                <a:extLst>
                  <a:ext uri="{0D108BD9-81ED-4DB2-BD59-A6C34878D82A}">
                    <a16:rowId xmlns:a16="http://schemas.microsoft.com/office/drawing/2014/main" val="10001"/>
                  </a:ext>
                </a:extLst>
              </a:tr>
              <a:tr h="666750">
                <a:tc>
                  <a:txBody>
                    <a:bodyPr/>
                    <a:lstStyle/>
                    <a:p>
                      <a:r>
                        <a:rPr sz="1950" b="0">
                          <a:solidFill>
                            <a:srgbClr val="000000"/>
                          </a:solidFill>
                          <a:latin typeface="Avenir Next"/>
                          <a:ea typeface="Avenir Next"/>
                          <a:cs typeface="Avenir Next"/>
                        </a:rPr>
                        <a:t>Tools</a:t>
                      </a:r>
                    </a:p>
                  </a:txBody>
                  <a:tcPr>
                    <a:solidFill>
                      <a:srgbClr val="F1F4F8"/>
                    </a:solidFill>
                  </a:tcPr>
                </a:tc>
                <a:tc>
                  <a:txBody>
                    <a:bodyPr/>
                    <a:lstStyle/>
                    <a:p>
                      <a:r>
                        <a:rPr sz="1950" b="0">
                          <a:solidFill>
                            <a:srgbClr val="000000"/>
                          </a:solidFill>
                          <a:latin typeface="Avenir Next"/>
                          <a:ea typeface="Avenir Next"/>
                          <a:cs typeface="Avenir Next"/>
                        </a:rPr>
                        <a:t>Read files, edit code or execute commands</a:t>
                      </a:r>
                    </a:p>
                  </a:txBody>
                  <a:tcPr>
                    <a:solidFill>
                      <a:srgbClr val="F1F4F8"/>
                    </a:solidFill>
                  </a:tcPr>
                </a:tc>
                <a:extLst>
                  <a:ext uri="{0D108BD9-81ED-4DB2-BD59-A6C34878D82A}">
                    <a16:rowId xmlns:a16="http://schemas.microsoft.com/office/drawing/2014/main" val="10002"/>
                  </a:ext>
                </a:extLst>
              </a:tr>
              <a:tr h="666750">
                <a:tc>
                  <a:txBody>
                    <a:bodyPr/>
                    <a:lstStyle/>
                    <a:p>
                      <a:r>
                        <a:rPr sz="1950" b="0">
                          <a:solidFill>
                            <a:srgbClr val="000000"/>
                          </a:solidFill>
                          <a:latin typeface="Avenir Next"/>
                          <a:ea typeface="Avenir Next"/>
                          <a:cs typeface="Avenir Next"/>
                        </a:rPr>
                        <a:t>Instructions</a:t>
                      </a:r>
                    </a:p>
                  </a:txBody>
                  <a:tcPr>
                    <a:solidFill>
                      <a:srgbClr val="FFFFFF"/>
                    </a:solidFill>
                  </a:tcPr>
                </a:tc>
                <a:tc>
                  <a:txBody>
                    <a:bodyPr/>
                    <a:lstStyle/>
                    <a:p>
                      <a:r>
                        <a:rPr sz="1950" b="0">
                          <a:solidFill>
                            <a:srgbClr val="000000"/>
                          </a:solidFill>
                          <a:latin typeface="Avenir Next"/>
                          <a:ea typeface="Avenir Next"/>
                          <a:cs typeface="Avenir Next"/>
                        </a:rPr>
                        <a:t>Describe the task and working rules</a:t>
                      </a:r>
                    </a:p>
                  </a:txBody>
                  <a:tcPr>
                    <a:solidFill>
                      <a:srgbClr val="FFFFFF"/>
                    </a:solidFill>
                  </a:tcPr>
                </a:tc>
                <a:extLst>
                  <a:ext uri="{0D108BD9-81ED-4DB2-BD59-A6C34878D82A}">
                    <a16:rowId xmlns:a16="http://schemas.microsoft.com/office/drawing/2014/main" val="10003"/>
                  </a:ext>
                </a:extLst>
              </a:tr>
              <a:tr h="666750">
                <a:tc>
                  <a:txBody>
                    <a:bodyPr/>
                    <a:lstStyle/>
                    <a:p>
                      <a:r>
                        <a:rPr sz="1950" b="0">
                          <a:solidFill>
                            <a:srgbClr val="000000"/>
                          </a:solidFill>
                          <a:latin typeface="Avenir Next"/>
                          <a:ea typeface="Avenir Next"/>
                          <a:cs typeface="Avenir Next"/>
                        </a:rPr>
                        <a:t>Environment</a:t>
                      </a:r>
                    </a:p>
                  </a:txBody>
                  <a:tcPr>
                    <a:solidFill>
                      <a:srgbClr val="F1F4F8"/>
                    </a:solidFill>
                  </a:tcPr>
                </a:tc>
                <a:tc>
                  <a:txBody>
                    <a:bodyPr/>
                    <a:lstStyle/>
                    <a:p>
                      <a:r>
                        <a:rPr sz="1950" b="0">
                          <a:solidFill>
                            <a:srgbClr val="000000"/>
                          </a:solidFill>
                          <a:latin typeface="Avenir Next"/>
                          <a:ea typeface="Avenir Next"/>
                          <a:cs typeface="Avenir Next"/>
                        </a:rPr>
                        <a:t>Determines available files and permissions</a:t>
                      </a:r>
                    </a:p>
                  </a:txBody>
                  <a:tcPr>
                    <a:solidFill>
                      <a:srgbClr val="F1F4F8"/>
                    </a:solidFill>
                  </a:tcPr>
                </a:tc>
                <a:extLst>
                  <a:ext uri="{0D108BD9-81ED-4DB2-BD59-A6C34878D82A}">
                    <a16:rowId xmlns:a16="http://schemas.microsoft.com/office/drawing/2014/main" val="10004"/>
                  </a:ext>
                </a:extLst>
              </a:tr>
            </a:tbl>
          </a:graphicData>
        </a:graphic>
      </p:graphicFrame>
      <p:sp>
        <p:nvSpPr>
          <p:cNvPr id="6" name="footer-rule">
            <a:extLst>
              <a:ext uri="{FF2B5EF4-FFF2-40B4-BE49-F238E27FC236}">
                <a16:creationId xmlns:a16="http://schemas.microsoft.com/office/drawing/2014/main" id="{A7C6EADD-2474-4DC4-88AA-BEAE7A5F464F}"/>
              </a:ext>
            </a:extLst>
          </p:cNvPr>
          <p:cNvSpPr>
            <a:spLocks noGrp="1"/>
          </p:cNvSpPr>
          <p:nvPr/>
        </p:nvSpPr>
        <p:spPr>
          <a:xfrm>
            <a:off x="685800" y="6515100"/>
            <a:ext cx="10820400" cy="9525"/>
          </a:xfrm>
          <a:prstGeom prst="rect">
            <a:avLst/>
          </a:prstGeom>
          <a:solidFill>
            <a:srgbClr val="DCE3EF"/>
          </a:solidFill>
          <a:ln w="0">
            <a:noFill/>
          </a:ln>
        </p:spPr>
        <p:txBody>
          <a:bodyPr/>
          <a:lstStyle/>
          <a:p>
            <a:endParaRPr lang="en-GB"/>
          </a:p>
        </p:txBody>
      </p:sp>
      <p:sp>
        <p:nvSpPr>
          <p:cNvPr id="7" name="footer">
            <a:extLst>
              <a:ext uri="{FF2B5EF4-FFF2-40B4-BE49-F238E27FC236}">
                <a16:creationId xmlns:a16="http://schemas.microsoft.com/office/drawing/2014/main" id="{E18F4D4B-DF98-415A-B9EE-E8D0B3AEE340}"/>
              </a:ext>
            </a:extLst>
          </p:cNvPr>
          <p:cNvSpPr>
            <a:spLocks noGrp="1"/>
          </p:cNvSpPr>
          <p:nvPr/>
        </p:nvSpPr>
        <p:spPr>
          <a:xfrm>
            <a:off x="685800" y="6553200"/>
            <a:ext cx="9525000" cy="228600"/>
          </a:xfrm>
          <a:prstGeom prst="rect">
            <a:avLst/>
          </a:prstGeom>
          <a:noFill/>
          <a:ln w="0">
            <a:noFill/>
          </a:ln>
        </p:spPr>
        <p:txBody>
          <a:bodyPr>
            <a:noAutofit/>
          </a:bodyPr>
          <a:lstStyle/>
          <a:p>
            <a:pPr>
              <a:defRPr sz="900" b="0">
                <a:solidFill>
                  <a:srgbClr val="29467F"/>
                </a:solidFill>
                <a:latin typeface="Avenir Next"/>
                <a:ea typeface="Avenir Next"/>
                <a:cs typeface="Avenir Next"/>
              </a:defRPr>
            </a:pPr>
            <a:r>
              <a:rPr sz="900" b="0">
                <a:solidFill>
                  <a:srgbClr val="29467F"/>
                </a:solidFill>
                <a:latin typeface="Avenir Next"/>
                <a:ea typeface="Avenir Next"/>
                <a:cs typeface="Avenir Next"/>
              </a:rPr>
              <a:t>AHRI  /  AI AGENT OVERSIGHT</a:t>
            </a:r>
          </a:p>
        </p:txBody>
      </p:sp>
      <p:sp>
        <p:nvSpPr>
          <p:cNvPr id="8" name="slide-number">
            <a:extLst>
              <a:ext uri="{FF2B5EF4-FFF2-40B4-BE49-F238E27FC236}">
                <a16:creationId xmlns:a16="http://schemas.microsoft.com/office/drawing/2014/main" id="{DF1CFDB0-0403-42A7-B825-B7E15F74260E}"/>
              </a:ext>
            </a:extLst>
          </p:cNvPr>
          <p:cNvSpPr>
            <a:spLocks noGrp="1"/>
          </p:cNvSpPr>
          <p:nvPr/>
        </p:nvSpPr>
        <p:spPr>
          <a:xfrm>
            <a:off x="11258550" y="6534150"/>
            <a:ext cx="400050" cy="247650"/>
          </a:xfrm>
          <a:prstGeom prst="rect">
            <a:avLst/>
          </a:prstGeom>
          <a:noFill/>
          <a:ln w="0">
            <a:noFill/>
          </a:ln>
        </p:spPr>
        <p:txBody>
          <a:bodyPr>
            <a:noAutofit/>
          </a:bodyPr>
          <a:lstStyle/>
          <a:p>
            <a:pPr>
              <a:defRPr sz="1200" b="0">
                <a:solidFill>
                  <a:srgbClr val="29467F"/>
                </a:solidFill>
                <a:latin typeface="Avenir Next"/>
                <a:ea typeface="Avenir Next"/>
                <a:cs typeface="Avenir Next"/>
              </a:defRPr>
            </a:pPr>
            <a:r>
              <a:rPr sz="1200" b="0">
                <a:solidFill>
                  <a:srgbClr val="29467F"/>
                </a:solidFill>
                <a:latin typeface="Avenir Next"/>
                <a:ea typeface="Avenir Next"/>
                <a:cs typeface="Avenir Next"/>
              </a:rPr>
              <a:t>03</a:t>
            </a:r>
          </a:p>
        </p:txBody>
      </p:sp>
    </p:spTree>
    <p:extLst>
      <p:ext uri="{BB962C8B-B14F-4D97-AF65-F5344CB8AC3E}">
        <p14:creationId xmlns:p14="http://schemas.microsoft.com/office/powerpoint/2010/main" val="3481870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section">
            <a:extLst>
              <a:ext uri="{FF2B5EF4-FFF2-40B4-BE49-F238E27FC236}">
                <a16:creationId xmlns:a16="http://schemas.microsoft.com/office/drawing/2014/main" id="{126A178B-4229-4346-BBBA-1BCFDBF87FDC}"/>
              </a:ext>
            </a:extLst>
          </p:cNvPr>
          <p:cNvSpPr>
            <a:spLocks noGrp="1"/>
          </p:cNvSpPr>
          <p:nvPr/>
        </p:nvSpPr>
        <p:spPr>
          <a:xfrm>
            <a:off x="685800" y="295275"/>
            <a:ext cx="8953500" cy="342900"/>
          </a:xfrm>
          <a:prstGeom prst="rect">
            <a:avLst/>
          </a:prstGeom>
          <a:noFill/>
          <a:ln w="0">
            <a:noFill/>
          </a:ln>
        </p:spPr>
        <p:txBody>
          <a:bodyPr>
            <a:noAutofit/>
          </a:bodyPr>
          <a:lstStyle/>
          <a:p>
            <a:pPr>
              <a:defRPr sz="1275" b="1">
                <a:solidFill>
                  <a:srgbClr val="29467F"/>
                </a:solidFill>
                <a:latin typeface="Avenir Next"/>
                <a:ea typeface="Avenir Next"/>
                <a:cs typeface="Avenir Next"/>
              </a:defRPr>
            </a:pPr>
            <a:r>
              <a:rPr sz="1275" b="1">
                <a:solidFill>
                  <a:srgbClr val="29467F"/>
                </a:solidFill>
                <a:latin typeface="Avenir Next"/>
                <a:ea typeface="Avenir Next"/>
                <a:cs typeface="Avenir Next"/>
              </a:rPr>
              <a:t>SUPERVISING AI AGENTS IN RESEARCH</a:t>
            </a:r>
          </a:p>
        </p:txBody>
      </p:sp>
      <p:pic>
        <p:nvPicPr>
          <p:cNvPr id="10" name="Picture 9"/>
          <p:cNvPicPr>
            <a:picLocks noChangeAspect="1"/>
          </p:cNvPicPr>
          <p:nvPr/>
        </p:nvPicPr>
        <p:blipFill>
          <a:blip r:embed="rId3"/>
          <a:stretch/>
        </p:blipFill>
        <p:spPr>
          <a:xfrm>
            <a:off x="10287012" y="219075"/>
            <a:ext cx="1219177" cy="473869"/>
          </a:xfrm>
          <a:prstGeom prst="rect">
            <a:avLst/>
          </a:prstGeom>
        </p:spPr>
      </p:pic>
      <p:sp>
        <p:nvSpPr>
          <p:cNvPr id="3" name="orange-accent">
            <a:extLst>
              <a:ext uri="{FF2B5EF4-FFF2-40B4-BE49-F238E27FC236}">
                <a16:creationId xmlns:a16="http://schemas.microsoft.com/office/drawing/2014/main" id="{DD7654CB-BD54-400A-8AEB-DF7808A98C41}"/>
              </a:ext>
            </a:extLst>
          </p:cNvPr>
          <p:cNvSpPr>
            <a:spLocks noGrp="1"/>
          </p:cNvSpPr>
          <p:nvPr/>
        </p:nvSpPr>
        <p:spPr>
          <a:xfrm>
            <a:off x="685800" y="742950"/>
            <a:ext cx="609600" cy="38100"/>
          </a:xfrm>
          <a:prstGeom prst="rect">
            <a:avLst/>
          </a:prstGeom>
          <a:solidFill>
            <a:srgbClr val="D96500"/>
          </a:solidFill>
          <a:ln w="0">
            <a:noFill/>
          </a:ln>
        </p:spPr>
        <p:txBody>
          <a:bodyPr/>
          <a:lstStyle/>
          <a:p>
            <a:endParaRPr lang="en-GB"/>
          </a:p>
        </p:txBody>
      </p:sp>
      <p:sp>
        <p:nvSpPr>
          <p:cNvPr id="4" name="title">
            <a:extLst>
              <a:ext uri="{FF2B5EF4-FFF2-40B4-BE49-F238E27FC236}">
                <a16:creationId xmlns:a16="http://schemas.microsoft.com/office/drawing/2014/main" id="{EBCC0236-7CD2-433E-A16F-5AEE89FE00BC}"/>
              </a:ext>
            </a:extLst>
          </p:cNvPr>
          <p:cNvSpPr>
            <a:spLocks noGrp="1"/>
          </p:cNvSpPr>
          <p:nvPr/>
        </p:nvSpPr>
        <p:spPr>
          <a:xfrm>
            <a:off x="666750" y="923925"/>
            <a:ext cx="10858500" cy="1028700"/>
          </a:xfrm>
          <a:prstGeom prst="rect">
            <a:avLst/>
          </a:prstGeom>
          <a:noFill/>
          <a:ln w="0">
            <a:noFill/>
          </a:ln>
        </p:spPr>
        <p:txBody>
          <a:bodyPr>
            <a:noAutofit/>
          </a:bodyPr>
          <a:lstStyle/>
          <a:p>
            <a:pPr>
              <a:defRPr sz="3300" b="1">
                <a:solidFill>
                  <a:srgbClr val="29467F"/>
                </a:solidFill>
                <a:latin typeface="Avenir Next"/>
                <a:ea typeface="Avenir Next"/>
                <a:cs typeface="Avenir Next"/>
              </a:defRPr>
            </a:pPr>
            <a:r>
              <a:rPr sz="3300" b="1">
                <a:solidFill>
                  <a:srgbClr val="29467F"/>
                </a:solidFill>
                <a:latin typeface="Avenir Next"/>
                <a:ea typeface="Avenir Next"/>
                <a:cs typeface="Avenir Next"/>
              </a:rPr>
              <a:t>Research judgement and delegated work</a:t>
            </a:r>
          </a:p>
        </p:txBody>
      </p:sp>
      <p:graphicFrame>
        <p:nvGraphicFramePr>
          <p:cNvPr id="13" name="Table 12"/>
          <p:cNvGraphicFramePr/>
          <p:nvPr/>
        </p:nvGraphicFramePr>
        <p:xfrm>
          <a:off x="685800" y="2085975"/>
          <a:ext cx="10820400" cy="3333750"/>
        </p:xfrm>
        <a:graphic>
          <a:graphicData uri="http://schemas.openxmlformats.org/drawingml/2006/table">
            <a:tbl>
              <a:tblPr/>
              <a:tblGrid>
                <a:gridCol w="3714750">
                  <a:extLst>
                    <a:ext uri="{9D8B030D-6E8A-4147-A177-3AD203B41FA5}">
                      <a16:colId xmlns:a16="http://schemas.microsoft.com/office/drawing/2014/main" val="20000"/>
                    </a:ext>
                  </a:extLst>
                </a:gridCol>
                <a:gridCol w="7105650">
                  <a:extLst>
                    <a:ext uri="{9D8B030D-6E8A-4147-A177-3AD203B41FA5}">
                      <a16:colId xmlns:a16="http://schemas.microsoft.com/office/drawing/2014/main" val="20001"/>
                    </a:ext>
                  </a:extLst>
                </a:gridCol>
              </a:tblGrid>
              <a:tr h="666750">
                <a:tc>
                  <a:txBody>
                    <a:bodyPr/>
                    <a:lstStyle/>
                    <a:p>
                      <a:r>
                        <a:rPr sz="1950" b="1">
                          <a:solidFill>
                            <a:srgbClr val="29467F"/>
                          </a:solidFill>
                          <a:latin typeface="Avenir Next"/>
                          <a:ea typeface="Avenir Next"/>
                          <a:cs typeface="Avenir Next"/>
                        </a:rPr>
                        <a:t>Human judgement</a:t>
                      </a:r>
                    </a:p>
                  </a:txBody>
                  <a:tcPr>
                    <a:solidFill>
                      <a:srgbClr val="DCE3EF"/>
                    </a:solidFill>
                  </a:tcPr>
                </a:tc>
                <a:tc>
                  <a:txBody>
                    <a:bodyPr/>
                    <a:lstStyle/>
                    <a:p>
                      <a:r>
                        <a:rPr sz="1950" b="1">
                          <a:solidFill>
                            <a:srgbClr val="29467F"/>
                          </a:solidFill>
                          <a:latin typeface="Avenir Next"/>
                          <a:ea typeface="Avenir Next"/>
                          <a:cs typeface="Avenir Next"/>
                        </a:rPr>
                        <a:t>Useful agent work</a:t>
                      </a:r>
                    </a:p>
                  </a:txBody>
                  <a:tcPr>
                    <a:solidFill>
                      <a:srgbClr val="DCE3EF"/>
                    </a:solidFill>
                  </a:tcPr>
                </a:tc>
                <a:extLst>
                  <a:ext uri="{0D108BD9-81ED-4DB2-BD59-A6C34878D82A}">
                    <a16:rowId xmlns:a16="http://schemas.microsoft.com/office/drawing/2014/main" val="10000"/>
                  </a:ext>
                </a:extLst>
              </a:tr>
              <a:tr h="666750">
                <a:tc>
                  <a:txBody>
                    <a:bodyPr/>
                    <a:lstStyle/>
                    <a:p>
                      <a:r>
                        <a:rPr sz="1950" b="0">
                          <a:solidFill>
                            <a:srgbClr val="000000"/>
                          </a:solidFill>
                          <a:latin typeface="Avenir Next"/>
                          <a:ea typeface="Avenir Next"/>
                          <a:cs typeface="Avenir Next"/>
                        </a:rPr>
                        <a:t>Which question matters?</a:t>
                      </a:r>
                    </a:p>
                  </a:txBody>
                  <a:tcPr>
                    <a:solidFill>
                      <a:srgbClr val="FFFFFF"/>
                    </a:solidFill>
                  </a:tcPr>
                </a:tc>
                <a:tc>
                  <a:txBody>
                    <a:bodyPr/>
                    <a:lstStyle/>
                    <a:p>
                      <a:r>
                        <a:rPr sz="1950" b="0">
                          <a:solidFill>
                            <a:srgbClr val="000000"/>
                          </a:solidFill>
                          <a:latin typeface="Avenir Next"/>
                          <a:ea typeface="Avenir Next"/>
                          <a:cs typeface="Avenir Next"/>
                        </a:rPr>
                        <a:t>Expose assumptions and alternatives</a:t>
                      </a:r>
                    </a:p>
                  </a:txBody>
                  <a:tcPr>
                    <a:solidFill>
                      <a:srgbClr val="FFFFFF"/>
                    </a:solidFill>
                  </a:tcPr>
                </a:tc>
                <a:extLst>
                  <a:ext uri="{0D108BD9-81ED-4DB2-BD59-A6C34878D82A}">
                    <a16:rowId xmlns:a16="http://schemas.microsoft.com/office/drawing/2014/main" val="10001"/>
                  </a:ext>
                </a:extLst>
              </a:tr>
              <a:tr h="666750">
                <a:tc>
                  <a:txBody>
                    <a:bodyPr/>
                    <a:lstStyle/>
                    <a:p>
                      <a:r>
                        <a:rPr sz="1950" b="0">
                          <a:solidFill>
                            <a:srgbClr val="000000"/>
                          </a:solidFill>
                          <a:latin typeface="Avenir Next"/>
                          <a:ea typeface="Avenir Next"/>
                          <a:cs typeface="Avenir Next"/>
                        </a:rPr>
                        <a:t>Which data use is permitted?</a:t>
                      </a:r>
                    </a:p>
                  </a:txBody>
                  <a:tcPr>
                    <a:solidFill>
                      <a:srgbClr val="F1F4F8"/>
                    </a:solidFill>
                  </a:tcPr>
                </a:tc>
                <a:tc>
                  <a:txBody>
                    <a:bodyPr/>
                    <a:lstStyle/>
                    <a:p>
                      <a:r>
                        <a:rPr sz="1950" b="0">
                          <a:solidFill>
                            <a:srgbClr val="000000"/>
                          </a:solidFill>
                          <a:latin typeface="Avenir Next"/>
                          <a:ea typeface="Avenir Next"/>
                          <a:cs typeface="Avenir Next"/>
                        </a:rPr>
                        <a:t>Work within the stated boundary</a:t>
                      </a:r>
                    </a:p>
                  </a:txBody>
                  <a:tcPr>
                    <a:solidFill>
                      <a:srgbClr val="F1F4F8"/>
                    </a:solidFill>
                  </a:tcPr>
                </a:tc>
                <a:extLst>
                  <a:ext uri="{0D108BD9-81ED-4DB2-BD59-A6C34878D82A}">
                    <a16:rowId xmlns:a16="http://schemas.microsoft.com/office/drawing/2014/main" val="10002"/>
                  </a:ext>
                </a:extLst>
              </a:tr>
              <a:tr h="666750">
                <a:tc>
                  <a:txBody>
                    <a:bodyPr/>
                    <a:lstStyle/>
                    <a:p>
                      <a:r>
                        <a:rPr sz="1950" b="0">
                          <a:solidFill>
                            <a:srgbClr val="000000"/>
                          </a:solidFill>
                          <a:latin typeface="Avenir Next"/>
                          <a:ea typeface="Avenir Next"/>
                          <a:cs typeface="Avenir Next"/>
                        </a:rPr>
                        <a:t>What evidence is sufficient?</a:t>
                      </a:r>
                    </a:p>
                  </a:txBody>
                  <a:tcPr>
                    <a:solidFill>
                      <a:srgbClr val="FFFFFF"/>
                    </a:solidFill>
                  </a:tcPr>
                </a:tc>
                <a:tc>
                  <a:txBody>
                    <a:bodyPr/>
                    <a:lstStyle/>
                    <a:p>
                      <a:r>
                        <a:rPr sz="1950" b="0">
                          <a:solidFill>
                            <a:srgbClr val="000000"/>
                          </a:solidFill>
                          <a:latin typeface="Avenir Next"/>
                          <a:ea typeface="Avenir Next"/>
                          <a:cs typeface="Avenir Next"/>
                        </a:rPr>
                        <a:t>Build checks and collect results</a:t>
                      </a:r>
                    </a:p>
                  </a:txBody>
                  <a:tcPr>
                    <a:solidFill>
                      <a:srgbClr val="FFFFFF"/>
                    </a:solidFill>
                  </a:tcPr>
                </a:tc>
                <a:extLst>
                  <a:ext uri="{0D108BD9-81ED-4DB2-BD59-A6C34878D82A}">
                    <a16:rowId xmlns:a16="http://schemas.microsoft.com/office/drawing/2014/main" val="10003"/>
                  </a:ext>
                </a:extLst>
              </a:tr>
              <a:tr h="666750">
                <a:tc>
                  <a:txBody>
                    <a:bodyPr/>
                    <a:lstStyle/>
                    <a:p>
                      <a:r>
                        <a:rPr sz="1950" b="0">
                          <a:solidFill>
                            <a:srgbClr val="000000"/>
                          </a:solidFill>
                          <a:latin typeface="Avenir Next"/>
                          <a:ea typeface="Avenir Next"/>
                          <a:cs typeface="Avenir Next"/>
                        </a:rPr>
                        <a:t>What can we conclude?</a:t>
                      </a:r>
                    </a:p>
                  </a:txBody>
                  <a:tcPr>
                    <a:solidFill>
                      <a:srgbClr val="F1F4F8"/>
                    </a:solidFill>
                  </a:tcPr>
                </a:tc>
                <a:tc>
                  <a:txBody>
                    <a:bodyPr/>
                    <a:lstStyle/>
                    <a:p>
                      <a:r>
                        <a:rPr sz="1950" b="0">
                          <a:solidFill>
                            <a:srgbClr val="000000"/>
                          </a:solidFill>
                          <a:latin typeface="Avenir Next"/>
                          <a:ea typeface="Avenir Next"/>
                          <a:cs typeface="Avenir Next"/>
                        </a:rPr>
                        <a:t>Draft a claim for critical review</a:t>
                      </a:r>
                    </a:p>
                  </a:txBody>
                  <a:tcPr>
                    <a:solidFill>
                      <a:srgbClr val="F1F4F8"/>
                    </a:solidFill>
                  </a:tcPr>
                </a:tc>
                <a:extLst>
                  <a:ext uri="{0D108BD9-81ED-4DB2-BD59-A6C34878D82A}">
                    <a16:rowId xmlns:a16="http://schemas.microsoft.com/office/drawing/2014/main" val="10004"/>
                  </a:ext>
                </a:extLst>
              </a:tr>
            </a:tbl>
          </a:graphicData>
        </a:graphic>
      </p:graphicFrame>
      <p:sp>
        <p:nvSpPr>
          <p:cNvPr id="6" name="footer-rule">
            <a:extLst>
              <a:ext uri="{FF2B5EF4-FFF2-40B4-BE49-F238E27FC236}">
                <a16:creationId xmlns:a16="http://schemas.microsoft.com/office/drawing/2014/main" id="{D4DDADE0-1C57-4576-970D-2B5AD48F7806}"/>
              </a:ext>
            </a:extLst>
          </p:cNvPr>
          <p:cNvSpPr>
            <a:spLocks noGrp="1"/>
          </p:cNvSpPr>
          <p:nvPr/>
        </p:nvSpPr>
        <p:spPr>
          <a:xfrm>
            <a:off x="685800" y="6515100"/>
            <a:ext cx="10820400" cy="9525"/>
          </a:xfrm>
          <a:prstGeom prst="rect">
            <a:avLst/>
          </a:prstGeom>
          <a:solidFill>
            <a:srgbClr val="DCE3EF"/>
          </a:solidFill>
          <a:ln w="0">
            <a:noFill/>
          </a:ln>
        </p:spPr>
        <p:txBody>
          <a:bodyPr/>
          <a:lstStyle/>
          <a:p>
            <a:endParaRPr lang="en-GB"/>
          </a:p>
        </p:txBody>
      </p:sp>
      <p:sp>
        <p:nvSpPr>
          <p:cNvPr id="7" name="footer">
            <a:extLst>
              <a:ext uri="{FF2B5EF4-FFF2-40B4-BE49-F238E27FC236}">
                <a16:creationId xmlns:a16="http://schemas.microsoft.com/office/drawing/2014/main" id="{778169F6-EE44-471E-86E3-FCFDEE99BC76}"/>
              </a:ext>
            </a:extLst>
          </p:cNvPr>
          <p:cNvSpPr>
            <a:spLocks noGrp="1"/>
          </p:cNvSpPr>
          <p:nvPr/>
        </p:nvSpPr>
        <p:spPr>
          <a:xfrm>
            <a:off x="685800" y="6553200"/>
            <a:ext cx="9525000" cy="228600"/>
          </a:xfrm>
          <a:prstGeom prst="rect">
            <a:avLst/>
          </a:prstGeom>
          <a:noFill/>
          <a:ln w="0">
            <a:noFill/>
          </a:ln>
        </p:spPr>
        <p:txBody>
          <a:bodyPr>
            <a:noAutofit/>
          </a:bodyPr>
          <a:lstStyle/>
          <a:p>
            <a:pPr>
              <a:defRPr sz="900" b="0">
                <a:solidFill>
                  <a:srgbClr val="29467F"/>
                </a:solidFill>
                <a:latin typeface="Avenir Next"/>
                <a:ea typeface="Avenir Next"/>
                <a:cs typeface="Avenir Next"/>
              </a:defRPr>
            </a:pPr>
            <a:r>
              <a:rPr sz="900" b="0">
                <a:solidFill>
                  <a:srgbClr val="29467F"/>
                </a:solidFill>
                <a:latin typeface="Avenir Next"/>
                <a:ea typeface="Avenir Next"/>
                <a:cs typeface="Avenir Next"/>
              </a:rPr>
              <a:t>AHRI  /  AI AGENT OVERSIGHT</a:t>
            </a:r>
          </a:p>
        </p:txBody>
      </p:sp>
      <p:sp>
        <p:nvSpPr>
          <p:cNvPr id="8" name="slide-number">
            <a:extLst>
              <a:ext uri="{FF2B5EF4-FFF2-40B4-BE49-F238E27FC236}">
                <a16:creationId xmlns:a16="http://schemas.microsoft.com/office/drawing/2014/main" id="{73BE2FE0-4DBA-4304-A211-2F1AE0B8D9AF}"/>
              </a:ext>
            </a:extLst>
          </p:cNvPr>
          <p:cNvSpPr>
            <a:spLocks noGrp="1"/>
          </p:cNvSpPr>
          <p:nvPr/>
        </p:nvSpPr>
        <p:spPr>
          <a:xfrm>
            <a:off x="11258550" y="6534150"/>
            <a:ext cx="400050" cy="247650"/>
          </a:xfrm>
          <a:prstGeom prst="rect">
            <a:avLst/>
          </a:prstGeom>
          <a:noFill/>
          <a:ln w="0">
            <a:noFill/>
          </a:ln>
        </p:spPr>
        <p:txBody>
          <a:bodyPr>
            <a:noAutofit/>
          </a:bodyPr>
          <a:lstStyle/>
          <a:p>
            <a:pPr>
              <a:defRPr sz="1200" b="0">
                <a:solidFill>
                  <a:srgbClr val="29467F"/>
                </a:solidFill>
                <a:latin typeface="Avenir Next"/>
                <a:ea typeface="Avenir Next"/>
                <a:cs typeface="Avenir Next"/>
              </a:defRPr>
            </a:pPr>
            <a:r>
              <a:rPr sz="1200" b="0">
                <a:solidFill>
                  <a:srgbClr val="29467F"/>
                </a:solidFill>
                <a:latin typeface="Avenir Next"/>
                <a:ea typeface="Avenir Next"/>
                <a:cs typeface="Avenir Next"/>
              </a:rPr>
              <a:t>04</a:t>
            </a:r>
          </a:p>
        </p:txBody>
      </p:sp>
    </p:spTree>
    <p:extLst>
      <p:ext uri="{BB962C8B-B14F-4D97-AF65-F5344CB8AC3E}">
        <p14:creationId xmlns:p14="http://schemas.microsoft.com/office/powerpoint/2010/main" val="9354273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section">
            <a:extLst>
              <a:ext uri="{FF2B5EF4-FFF2-40B4-BE49-F238E27FC236}">
                <a16:creationId xmlns:a16="http://schemas.microsoft.com/office/drawing/2014/main" id="{2325BB8F-4E27-41BF-8DFC-46774EBE772E}"/>
              </a:ext>
            </a:extLst>
          </p:cNvPr>
          <p:cNvSpPr>
            <a:spLocks noGrp="1"/>
          </p:cNvSpPr>
          <p:nvPr/>
        </p:nvSpPr>
        <p:spPr>
          <a:xfrm>
            <a:off x="685800" y="295275"/>
            <a:ext cx="8953500" cy="342900"/>
          </a:xfrm>
          <a:prstGeom prst="rect">
            <a:avLst/>
          </a:prstGeom>
          <a:noFill/>
          <a:ln w="0">
            <a:noFill/>
          </a:ln>
        </p:spPr>
        <p:txBody>
          <a:bodyPr>
            <a:noAutofit/>
          </a:bodyPr>
          <a:lstStyle/>
          <a:p>
            <a:pPr>
              <a:defRPr sz="1275" b="1">
                <a:solidFill>
                  <a:srgbClr val="29467F"/>
                </a:solidFill>
                <a:latin typeface="Avenir Next"/>
                <a:ea typeface="Avenir Next"/>
                <a:cs typeface="Avenir Next"/>
              </a:defRPr>
            </a:pPr>
            <a:r>
              <a:rPr sz="1275" b="1">
                <a:solidFill>
                  <a:srgbClr val="29467F"/>
                </a:solidFill>
                <a:latin typeface="Avenir Next"/>
                <a:ea typeface="Avenir Next"/>
                <a:cs typeface="Avenir Next"/>
              </a:rPr>
              <a:t>SUPERVISING AI AGENTS IN RESEARCH</a:t>
            </a:r>
          </a:p>
        </p:txBody>
      </p:sp>
      <p:pic>
        <p:nvPicPr>
          <p:cNvPr id="19" name="Picture 18"/>
          <p:cNvPicPr>
            <a:picLocks noChangeAspect="1"/>
          </p:cNvPicPr>
          <p:nvPr/>
        </p:nvPicPr>
        <p:blipFill>
          <a:blip r:embed="rId3"/>
          <a:stretch/>
        </p:blipFill>
        <p:spPr>
          <a:xfrm>
            <a:off x="10287012" y="219075"/>
            <a:ext cx="1219177" cy="473869"/>
          </a:xfrm>
          <a:prstGeom prst="rect">
            <a:avLst/>
          </a:prstGeom>
        </p:spPr>
      </p:pic>
      <p:sp>
        <p:nvSpPr>
          <p:cNvPr id="3" name="orange-accent">
            <a:extLst>
              <a:ext uri="{FF2B5EF4-FFF2-40B4-BE49-F238E27FC236}">
                <a16:creationId xmlns:a16="http://schemas.microsoft.com/office/drawing/2014/main" id="{3BCBC4A3-5BC1-4583-801B-43CB4CF08F40}"/>
              </a:ext>
            </a:extLst>
          </p:cNvPr>
          <p:cNvSpPr>
            <a:spLocks noGrp="1"/>
          </p:cNvSpPr>
          <p:nvPr/>
        </p:nvSpPr>
        <p:spPr>
          <a:xfrm>
            <a:off x="685800" y="742950"/>
            <a:ext cx="609600" cy="38100"/>
          </a:xfrm>
          <a:prstGeom prst="rect">
            <a:avLst/>
          </a:prstGeom>
          <a:solidFill>
            <a:srgbClr val="D96500"/>
          </a:solidFill>
          <a:ln w="0">
            <a:noFill/>
          </a:ln>
        </p:spPr>
        <p:txBody>
          <a:bodyPr/>
          <a:lstStyle/>
          <a:p>
            <a:endParaRPr lang="en-GB"/>
          </a:p>
        </p:txBody>
      </p:sp>
      <p:sp>
        <p:nvSpPr>
          <p:cNvPr id="4" name="title">
            <a:extLst>
              <a:ext uri="{FF2B5EF4-FFF2-40B4-BE49-F238E27FC236}">
                <a16:creationId xmlns:a16="http://schemas.microsoft.com/office/drawing/2014/main" id="{043A0382-737D-450C-B750-CDB4A9212131}"/>
              </a:ext>
            </a:extLst>
          </p:cNvPr>
          <p:cNvSpPr>
            <a:spLocks noGrp="1"/>
          </p:cNvSpPr>
          <p:nvPr/>
        </p:nvSpPr>
        <p:spPr>
          <a:xfrm>
            <a:off x="666750" y="923925"/>
            <a:ext cx="10858500" cy="1028700"/>
          </a:xfrm>
          <a:prstGeom prst="rect">
            <a:avLst/>
          </a:prstGeom>
          <a:noFill/>
          <a:ln w="0">
            <a:noFill/>
          </a:ln>
        </p:spPr>
        <p:txBody>
          <a:bodyPr>
            <a:noAutofit/>
          </a:bodyPr>
          <a:lstStyle/>
          <a:p>
            <a:pPr>
              <a:defRPr sz="3300" b="1">
                <a:solidFill>
                  <a:srgbClr val="29467F"/>
                </a:solidFill>
                <a:latin typeface="Avenir Next"/>
                <a:ea typeface="Avenir Next"/>
                <a:cs typeface="Avenir Next"/>
              </a:defRPr>
            </a:pPr>
            <a:r>
              <a:rPr sz="3300" b="1">
                <a:solidFill>
                  <a:srgbClr val="29467F"/>
                </a:solidFill>
                <a:latin typeface="Avenir Next"/>
                <a:ea typeface="Avenir Next"/>
                <a:cs typeface="Avenir Next"/>
              </a:rPr>
              <a:t>Artifacts that preserve decisions</a:t>
            </a:r>
          </a:p>
        </p:txBody>
      </p:sp>
      <p:sp>
        <p:nvSpPr>
          <p:cNvPr id="5" name="artifact-1">
            <a:extLst>
              <a:ext uri="{FF2B5EF4-FFF2-40B4-BE49-F238E27FC236}">
                <a16:creationId xmlns:a16="http://schemas.microsoft.com/office/drawing/2014/main" id="{CFCB0D6E-5C42-4C5E-9BAD-4713281946E3}"/>
              </a:ext>
            </a:extLst>
          </p:cNvPr>
          <p:cNvSpPr>
            <a:spLocks noGrp="1"/>
          </p:cNvSpPr>
          <p:nvPr/>
        </p:nvSpPr>
        <p:spPr>
          <a:xfrm>
            <a:off x="704850" y="2076450"/>
            <a:ext cx="10801350" cy="381000"/>
          </a:xfrm>
          <a:prstGeom prst="rect">
            <a:avLst/>
          </a:prstGeom>
          <a:noFill/>
          <a:ln w="0">
            <a:noFill/>
          </a:ln>
        </p:spPr>
        <p:txBody>
          <a:bodyPr>
            <a:noAutofit/>
          </a:bodyPr>
          <a:lstStyle/>
          <a:p>
            <a:pPr>
              <a:defRPr sz="1875" b="0">
                <a:solidFill>
                  <a:srgbClr val="000000"/>
                </a:solidFill>
                <a:latin typeface="Avenir Next"/>
                <a:ea typeface="Avenir Next"/>
                <a:cs typeface="Avenir Next"/>
              </a:defRPr>
            </a:pPr>
            <a:r>
              <a:rPr sz="1875" b="1">
                <a:latin typeface="Avenir Next"/>
                <a:ea typeface="Avenir Next"/>
                <a:cs typeface="Avenir Next"/>
              </a:rPr>
              <a:t>Glossary </a:t>
            </a:r>
            <a:r>
              <a:rPr sz="1500">
                <a:solidFill>
                  <a:srgbClr val="29467F"/>
                </a:solidFill>
                <a:latin typeface="Menlo"/>
                <a:ea typeface="Menlo"/>
                <a:cs typeface="Menlo"/>
              </a:rPr>
              <a:t>[CONTEXT.md]</a:t>
            </a:r>
          </a:p>
        </p:txBody>
      </p:sp>
      <p:sp>
        <p:nvSpPr>
          <p:cNvPr id="6" name="question-1">
            <a:extLst>
              <a:ext uri="{FF2B5EF4-FFF2-40B4-BE49-F238E27FC236}">
                <a16:creationId xmlns:a16="http://schemas.microsoft.com/office/drawing/2014/main" id="{7F8D99EA-C9BE-41D4-AD31-6A37447BA80A}"/>
              </a:ext>
            </a:extLst>
          </p:cNvPr>
          <p:cNvSpPr>
            <a:spLocks noGrp="1"/>
          </p:cNvSpPr>
          <p:nvPr/>
        </p:nvSpPr>
        <p:spPr>
          <a:xfrm>
            <a:off x="704850" y="2438400"/>
            <a:ext cx="10801350" cy="352425"/>
          </a:xfrm>
          <a:prstGeom prst="rect">
            <a:avLst/>
          </a:prstGeom>
          <a:noFill/>
          <a:ln w="0">
            <a:noFill/>
          </a:ln>
        </p:spPr>
        <p:txBody>
          <a:bodyPr>
            <a:noAutofit/>
          </a:bodyPr>
          <a:lstStyle/>
          <a:p>
            <a:pPr>
              <a:defRPr sz="1875" b="0">
                <a:solidFill>
                  <a:srgbClr val="000000"/>
                </a:solidFill>
                <a:latin typeface="Avenir Next"/>
                <a:ea typeface="Avenir Next"/>
                <a:cs typeface="Avenir Next"/>
              </a:defRPr>
            </a:pPr>
            <a:r>
              <a:rPr sz="1875" b="0">
                <a:solidFill>
                  <a:srgbClr val="000000"/>
                </a:solidFill>
                <a:latin typeface="Avenir Next"/>
                <a:ea typeface="Avenir Next"/>
                <a:cs typeface="Avenir Next"/>
              </a:rPr>
              <a:t>What do our terms mean?</a:t>
            </a:r>
          </a:p>
        </p:txBody>
      </p:sp>
      <p:sp>
        <p:nvSpPr>
          <p:cNvPr id="7" name="artifact-2">
            <a:extLst>
              <a:ext uri="{FF2B5EF4-FFF2-40B4-BE49-F238E27FC236}">
                <a16:creationId xmlns:a16="http://schemas.microsoft.com/office/drawing/2014/main" id="{DEC8B37D-713D-4050-BA10-38E354F93799}"/>
              </a:ext>
            </a:extLst>
          </p:cNvPr>
          <p:cNvSpPr>
            <a:spLocks noGrp="1"/>
          </p:cNvSpPr>
          <p:nvPr/>
        </p:nvSpPr>
        <p:spPr>
          <a:xfrm>
            <a:off x="704850" y="2886075"/>
            <a:ext cx="10801350" cy="381000"/>
          </a:xfrm>
          <a:prstGeom prst="rect">
            <a:avLst/>
          </a:prstGeom>
          <a:noFill/>
          <a:ln w="0">
            <a:noFill/>
          </a:ln>
        </p:spPr>
        <p:txBody>
          <a:bodyPr>
            <a:noAutofit/>
          </a:bodyPr>
          <a:lstStyle/>
          <a:p>
            <a:pPr>
              <a:defRPr sz="1875" b="0">
                <a:solidFill>
                  <a:srgbClr val="000000"/>
                </a:solidFill>
                <a:latin typeface="Avenir Next"/>
                <a:ea typeface="Avenir Next"/>
                <a:cs typeface="Avenir Next"/>
              </a:defRPr>
            </a:pPr>
            <a:r>
              <a:rPr sz="1875" b="1">
                <a:latin typeface="Avenir Next"/>
                <a:ea typeface="Avenir Next"/>
                <a:cs typeface="Avenir Next"/>
              </a:rPr>
              <a:t>Decision record </a:t>
            </a:r>
            <a:r>
              <a:rPr sz="1500">
                <a:solidFill>
                  <a:srgbClr val="29467F"/>
                </a:solidFill>
                <a:latin typeface="Menlo"/>
                <a:ea typeface="Menlo"/>
                <a:cs typeface="Menlo"/>
              </a:rPr>
              <a:t>[0002-use-an-agreement-benchmark-as-the-teaching-example.md]</a:t>
            </a:r>
          </a:p>
        </p:txBody>
      </p:sp>
      <p:sp>
        <p:nvSpPr>
          <p:cNvPr id="8" name="question-2">
            <a:extLst>
              <a:ext uri="{FF2B5EF4-FFF2-40B4-BE49-F238E27FC236}">
                <a16:creationId xmlns:a16="http://schemas.microsoft.com/office/drawing/2014/main" id="{F3D7D563-E35C-4786-8AD3-5506939AEE6A}"/>
              </a:ext>
            </a:extLst>
          </p:cNvPr>
          <p:cNvSpPr>
            <a:spLocks noGrp="1"/>
          </p:cNvSpPr>
          <p:nvPr/>
        </p:nvSpPr>
        <p:spPr>
          <a:xfrm>
            <a:off x="704850" y="3248025"/>
            <a:ext cx="10801350" cy="352425"/>
          </a:xfrm>
          <a:prstGeom prst="rect">
            <a:avLst/>
          </a:prstGeom>
          <a:noFill/>
          <a:ln w="0">
            <a:noFill/>
          </a:ln>
        </p:spPr>
        <p:txBody>
          <a:bodyPr>
            <a:noAutofit/>
          </a:bodyPr>
          <a:lstStyle/>
          <a:p>
            <a:pPr>
              <a:defRPr sz="1875" b="0">
                <a:solidFill>
                  <a:srgbClr val="000000"/>
                </a:solidFill>
                <a:latin typeface="Avenir Next"/>
                <a:ea typeface="Avenir Next"/>
                <a:cs typeface="Avenir Next"/>
              </a:defRPr>
            </a:pPr>
            <a:r>
              <a:rPr sz="1875" b="0">
                <a:solidFill>
                  <a:srgbClr val="000000"/>
                </a:solidFill>
                <a:latin typeface="Avenir Next"/>
                <a:ea typeface="Avenir Next"/>
                <a:cs typeface="Avenir Next"/>
              </a:rPr>
              <a:t>Why did we choose this approach?</a:t>
            </a:r>
          </a:p>
        </p:txBody>
      </p:sp>
      <p:sp>
        <p:nvSpPr>
          <p:cNvPr id="9" name="artifact-3">
            <a:extLst>
              <a:ext uri="{FF2B5EF4-FFF2-40B4-BE49-F238E27FC236}">
                <a16:creationId xmlns:a16="http://schemas.microsoft.com/office/drawing/2014/main" id="{A927BE5F-FFAB-4346-BFE8-34D77EE180DD}"/>
              </a:ext>
            </a:extLst>
          </p:cNvPr>
          <p:cNvSpPr>
            <a:spLocks noGrp="1"/>
          </p:cNvSpPr>
          <p:nvPr/>
        </p:nvSpPr>
        <p:spPr>
          <a:xfrm>
            <a:off x="704850" y="3695700"/>
            <a:ext cx="10801350" cy="381000"/>
          </a:xfrm>
          <a:prstGeom prst="rect">
            <a:avLst/>
          </a:prstGeom>
          <a:noFill/>
          <a:ln w="0">
            <a:noFill/>
          </a:ln>
        </p:spPr>
        <p:txBody>
          <a:bodyPr>
            <a:noAutofit/>
          </a:bodyPr>
          <a:lstStyle/>
          <a:p>
            <a:pPr>
              <a:defRPr sz="1875" b="0">
                <a:solidFill>
                  <a:srgbClr val="000000"/>
                </a:solidFill>
                <a:latin typeface="Avenir Next"/>
                <a:ea typeface="Avenir Next"/>
                <a:cs typeface="Avenir Next"/>
              </a:defRPr>
            </a:pPr>
            <a:r>
              <a:rPr sz="1875" b="1">
                <a:latin typeface="Avenir Next"/>
                <a:ea typeface="Avenir Next"/>
                <a:cs typeface="Avenir Next"/>
              </a:rPr>
              <a:t>Specification </a:t>
            </a:r>
            <a:r>
              <a:rPr sz="1500">
                <a:solidFill>
                  <a:srgbClr val="29467F"/>
                </a:solidFill>
                <a:latin typeface="Menlo"/>
                <a:ea typeface="Menlo"/>
                <a:cs typeface="Menlo"/>
              </a:rPr>
              <a:t>[spec.md]</a:t>
            </a:r>
          </a:p>
        </p:txBody>
      </p:sp>
      <p:sp>
        <p:nvSpPr>
          <p:cNvPr id="10" name="question-3">
            <a:extLst>
              <a:ext uri="{FF2B5EF4-FFF2-40B4-BE49-F238E27FC236}">
                <a16:creationId xmlns:a16="http://schemas.microsoft.com/office/drawing/2014/main" id="{73932E8A-6BD3-458A-A92D-78832D62ECE5}"/>
              </a:ext>
            </a:extLst>
          </p:cNvPr>
          <p:cNvSpPr>
            <a:spLocks noGrp="1"/>
          </p:cNvSpPr>
          <p:nvPr/>
        </p:nvSpPr>
        <p:spPr>
          <a:xfrm>
            <a:off x="704850" y="4057650"/>
            <a:ext cx="10801350" cy="352425"/>
          </a:xfrm>
          <a:prstGeom prst="rect">
            <a:avLst/>
          </a:prstGeom>
          <a:noFill/>
          <a:ln w="0">
            <a:noFill/>
          </a:ln>
        </p:spPr>
        <p:txBody>
          <a:bodyPr>
            <a:noAutofit/>
          </a:bodyPr>
          <a:lstStyle/>
          <a:p>
            <a:pPr>
              <a:defRPr sz="1875" b="0">
                <a:solidFill>
                  <a:srgbClr val="000000"/>
                </a:solidFill>
                <a:latin typeface="Avenir Next"/>
                <a:ea typeface="Avenir Next"/>
                <a:cs typeface="Avenir Next"/>
              </a:defRPr>
            </a:pPr>
            <a:r>
              <a:rPr sz="1875" b="0">
                <a:solidFill>
                  <a:srgbClr val="000000"/>
                </a:solidFill>
                <a:latin typeface="Avenir Next"/>
                <a:ea typeface="Avenir Next"/>
                <a:cs typeface="Avenir Next"/>
              </a:rPr>
              <a:t>What behaviour and evidence do we require?</a:t>
            </a:r>
          </a:p>
        </p:txBody>
      </p:sp>
      <p:sp>
        <p:nvSpPr>
          <p:cNvPr id="11" name="artifact-4">
            <a:extLst>
              <a:ext uri="{FF2B5EF4-FFF2-40B4-BE49-F238E27FC236}">
                <a16:creationId xmlns:a16="http://schemas.microsoft.com/office/drawing/2014/main" id="{9E9323C5-C4FB-468F-B9B6-ED8DB222742C}"/>
              </a:ext>
            </a:extLst>
          </p:cNvPr>
          <p:cNvSpPr>
            <a:spLocks noGrp="1"/>
          </p:cNvSpPr>
          <p:nvPr/>
        </p:nvSpPr>
        <p:spPr>
          <a:xfrm>
            <a:off x="704850" y="4505325"/>
            <a:ext cx="10801350" cy="381000"/>
          </a:xfrm>
          <a:prstGeom prst="rect">
            <a:avLst/>
          </a:prstGeom>
          <a:noFill/>
          <a:ln w="0">
            <a:noFill/>
          </a:ln>
        </p:spPr>
        <p:txBody>
          <a:bodyPr>
            <a:noAutofit/>
          </a:bodyPr>
          <a:lstStyle/>
          <a:p>
            <a:pPr>
              <a:defRPr sz="1875" b="0">
                <a:solidFill>
                  <a:srgbClr val="000000"/>
                </a:solidFill>
                <a:latin typeface="Avenir Next"/>
                <a:ea typeface="Avenir Next"/>
                <a:cs typeface="Avenir Next"/>
              </a:defRPr>
            </a:pPr>
            <a:r>
              <a:rPr sz="1875" b="1">
                <a:latin typeface="Avenir Next"/>
                <a:ea typeface="Avenir Next"/>
                <a:cs typeface="Avenir Next"/>
              </a:rPr>
              <a:t>Ticket </a:t>
            </a:r>
            <a:r>
              <a:rPr sz="1500">
                <a:solidFill>
                  <a:srgbClr val="29467F"/>
                </a:solidFill>
                <a:latin typeface="Menlo"/>
                <a:ea typeface="Menlo"/>
                <a:cs typeface="Menlo"/>
              </a:rPr>
              <a:t>[live-leakage-check.md]</a:t>
            </a:r>
          </a:p>
        </p:txBody>
      </p:sp>
      <p:sp>
        <p:nvSpPr>
          <p:cNvPr id="12" name="question-4">
            <a:extLst>
              <a:ext uri="{FF2B5EF4-FFF2-40B4-BE49-F238E27FC236}">
                <a16:creationId xmlns:a16="http://schemas.microsoft.com/office/drawing/2014/main" id="{43797C8A-B7B4-47C2-8F6D-9A24299DA497}"/>
              </a:ext>
            </a:extLst>
          </p:cNvPr>
          <p:cNvSpPr>
            <a:spLocks noGrp="1"/>
          </p:cNvSpPr>
          <p:nvPr/>
        </p:nvSpPr>
        <p:spPr>
          <a:xfrm>
            <a:off x="704850" y="4867275"/>
            <a:ext cx="10801350" cy="352425"/>
          </a:xfrm>
          <a:prstGeom prst="rect">
            <a:avLst/>
          </a:prstGeom>
          <a:noFill/>
          <a:ln w="0">
            <a:noFill/>
          </a:ln>
        </p:spPr>
        <p:txBody>
          <a:bodyPr>
            <a:noAutofit/>
          </a:bodyPr>
          <a:lstStyle/>
          <a:p>
            <a:pPr>
              <a:defRPr sz="1875" b="0">
                <a:solidFill>
                  <a:srgbClr val="000000"/>
                </a:solidFill>
                <a:latin typeface="Avenir Next"/>
                <a:ea typeface="Avenir Next"/>
                <a:cs typeface="Avenir Next"/>
              </a:defRPr>
            </a:pPr>
            <a:r>
              <a:rPr sz="1875" b="0">
                <a:solidFill>
                  <a:srgbClr val="000000"/>
                </a:solidFill>
                <a:latin typeface="Avenir Next"/>
                <a:ea typeface="Avenir Next"/>
                <a:cs typeface="Avenir Next"/>
              </a:rPr>
              <a:t>What bounded piece will we do next?</a:t>
            </a:r>
          </a:p>
        </p:txBody>
      </p:sp>
      <p:sp>
        <p:nvSpPr>
          <p:cNvPr id="13" name="artifact-5">
            <a:extLst>
              <a:ext uri="{FF2B5EF4-FFF2-40B4-BE49-F238E27FC236}">
                <a16:creationId xmlns:a16="http://schemas.microsoft.com/office/drawing/2014/main" id="{B5C56879-B9B6-482D-A68E-D2E1D2A6E5C6}"/>
              </a:ext>
            </a:extLst>
          </p:cNvPr>
          <p:cNvSpPr>
            <a:spLocks noGrp="1"/>
          </p:cNvSpPr>
          <p:nvPr/>
        </p:nvSpPr>
        <p:spPr>
          <a:xfrm>
            <a:off x="704850" y="5314950"/>
            <a:ext cx="10801350" cy="381000"/>
          </a:xfrm>
          <a:prstGeom prst="rect">
            <a:avLst/>
          </a:prstGeom>
          <a:noFill/>
          <a:ln w="0">
            <a:noFill/>
          </a:ln>
        </p:spPr>
        <p:txBody>
          <a:bodyPr>
            <a:noAutofit/>
          </a:bodyPr>
          <a:lstStyle/>
          <a:p>
            <a:pPr>
              <a:defRPr sz="1875" b="0">
                <a:solidFill>
                  <a:srgbClr val="000000"/>
                </a:solidFill>
                <a:latin typeface="Avenir Next"/>
                <a:ea typeface="Avenir Next"/>
                <a:cs typeface="Avenir Next"/>
              </a:defRPr>
            </a:pPr>
            <a:r>
              <a:rPr sz="1875" b="1">
                <a:latin typeface="Avenir Next"/>
                <a:ea typeface="Avenir Next"/>
                <a:cs typeface="Avenir Next"/>
              </a:rPr>
              <a:t>Test and review record </a:t>
            </a:r>
            <a:r>
              <a:rPr sz="1500">
                <a:solidFill>
                  <a:srgbClr val="29467F"/>
                </a:solidFill>
                <a:latin typeface="Menlo"/>
                <a:ea typeface="Menlo"/>
                <a:cs typeface="Menlo"/>
              </a:rPr>
              <a:t>[verification.json, review-2026-09-25.md]</a:t>
            </a:r>
          </a:p>
        </p:txBody>
      </p:sp>
      <p:sp>
        <p:nvSpPr>
          <p:cNvPr id="14" name="question-5">
            <a:extLst>
              <a:ext uri="{FF2B5EF4-FFF2-40B4-BE49-F238E27FC236}">
                <a16:creationId xmlns:a16="http://schemas.microsoft.com/office/drawing/2014/main" id="{1D676473-FF34-4D28-8B4E-4A2E23BE190D}"/>
              </a:ext>
            </a:extLst>
          </p:cNvPr>
          <p:cNvSpPr>
            <a:spLocks noGrp="1"/>
          </p:cNvSpPr>
          <p:nvPr/>
        </p:nvSpPr>
        <p:spPr>
          <a:xfrm>
            <a:off x="704850" y="5676900"/>
            <a:ext cx="10801350" cy="352425"/>
          </a:xfrm>
          <a:prstGeom prst="rect">
            <a:avLst/>
          </a:prstGeom>
          <a:noFill/>
          <a:ln w="0">
            <a:noFill/>
          </a:ln>
        </p:spPr>
        <p:txBody>
          <a:bodyPr>
            <a:noAutofit/>
          </a:bodyPr>
          <a:lstStyle/>
          <a:p>
            <a:pPr>
              <a:defRPr sz="1875" b="0">
                <a:solidFill>
                  <a:srgbClr val="000000"/>
                </a:solidFill>
                <a:latin typeface="Avenir Next"/>
                <a:ea typeface="Avenir Next"/>
                <a:cs typeface="Avenir Next"/>
              </a:defRPr>
            </a:pPr>
            <a:r>
              <a:rPr sz="1875" b="0">
                <a:solidFill>
                  <a:srgbClr val="000000"/>
                </a:solidFill>
                <a:latin typeface="Avenir Next"/>
                <a:ea typeface="Avenir Next"/>
                <a:cs typeface="Avenir Next"/>
              </a:rPr>
              <a:t>What did we check, and what remains uncertain?</a:t>
            </a:r>
          </a:p>
        </p:txBody>
      </p:sp>
      <p:sp>
        <p:nvSpPr>
          <p:cNvPr id="15" name="footer-rule">
            <a:extLst>
              <a:ext uri="{FF2B5EF4-FFF2-40B4-BE49-F238E27FC236}">
                <a16:creationId xmlns:a16="http://schemas.microsoft.com/office/drawing/2014/main" id="{63EEE3D2-4BA6-4446-802C-ECE270A1FFBA}"/>
              </a:ext>
            </a:extLst>
          </p:cNvPr>
          <p:cNvSpPr>
            <a:spLocks noGrp="1"/>
          </p:cNvSpPr>
          <p:nvPr/>
        </p:nvSpPr>
        <p:spPr>
          <a:xfrm>
            <a:off x="685800" y="6515100"/>
            <a:ext cx="10820400" cy="9525"/>
          </a:xfrm>
          <a:prstGeom prst="rect">
            <a:avLst/>
          </a:prstGeom>
          <a:solidFill>
            <a:srgbClr val="DCE3EF"/>
          </a:solidFill>
          <a:ln w="0">
            <a:noFill/>
          </a:ln>
        </p:spPr>
        <p:txBody>
          <a:bodyPr/>
          <a:lstStyle/>
          <a:p>
            <a:endParaRPr lang="en-GB"/>
          </a:p>
        </p:txBody>
      </p:sp>
      <p:sp>
        <p:nvSpPr>
          <p:cNvPr id="16" name="footer">
            <a:extLst>
              <a:ext uri="{FF2B5EF4-FFF2-40B4-BE49-F238E27FC236}">
                <a16:creationId xmlns:a16="http://schemas.microsoft.com/office/drawing/2014/main" id="{1A8670B4-2891-4949-AE0F-1B6AEC90F4E3}"/>
              </a:ext>
            </a:extLst>
          </p:cNvPr>
          <p:cNvSpPr>
            <a:spLocks noGrp="1"/>
          </p:cNvSpPr>
          <p:nvPr/>
        </p:nvSpPr>
        <p:spPr>
          <a:xfrm>
            <a:off x="685800" y="6553200"/>
            <a:ext cx="9525000" cy="228600"/>
          </a:xfrm>
          <a:prstGeom prst="rect">
            <a:avLst/>
          </a:prstGeom>
          <a:noFill/>
          <a:ln w="0">
            <a:noFill/>
          </a:ln>
        </p:spPr>
        <p:txBody>
          <a:bodyPr>
            <a:noAutofit/>
          </a:bodyPr>
          <a:lstStyle/>
          <a:p>
            <a:pPr>
              <a:defRPr sz="900" b="0">
                <a:solidFill>
                  <a:srgbClr val="29467F"/>
                </a:solidFill>
                <a:latin typeface="Avenir Next"/>
                <a:ea typeface="Avenir Next"/>
                <a:cs typeface="Avenir Next"/>
              </a:defRPr>
            </a:pPr>
            <a:r>
              <a:rPr sz="900" b="0">
                <a:solidFill>
                  <a:srgbClr val="29467F"/>
                </a:solidFill>
                <a:latin typeface="Avenir Next"/>
                <a:ea typeface="Avenir Next"/>
                <a:cs typeface="Avenir Next"/>
              </a:rPr>
              <a:t>AHRI  /  AI AGENT OVERSIGHT</a:t>
            </a:r>
          </a:p>
        </p:txBody>
      </p:sp>
      <p:sp>
        <p:nvSpPr>
          <p:cNvPr id="17" name="slide-number">
            <a:extLst>
              <a:ext uri="{FF2B5EF4-FFF2-40B4-BE49-F238E27FC236}">
                <a16:creationId xmlns:a16="http://schemas.microsoft.com/office/drawing/2014/main" id="{4237EC4D-5256-4E47-BD33-A83A6F7B91FA}"/>
              </a:ext>
            </a:extLst>
          </p:cNvPr>
          <p:cNvSpPr>
            <a:spLocks noGrp="1"/>
          </p:cNvSpPr>
          <p:nvPr/>
        </p:nvSpPr>
        <p:spPr>
          <a:xfrm>
            <a:off x="11258550" y="6534150"/>
            <a:ext cx="400050" cy="247650"/>
          </a:xfrm>
          <a:prstGeom prst="rect">
            <a:avLst/>
          </a:prstGeom>
          <a:noFill/>
          <a:ln w="0">
            <a:noFill/>
          </a:ln>
        </p:spPr>
        <p:txBody>
          <a:bodyPr>
            <a:noAutofit/>
          </a:bodyPr>
          <a:lstStyle/>
          <a:p>
            <a:pPr>
              <a:defRPr sz="1200" b="0">
                <a:solidFill>
                  <a:srgbClr val="29467F"/>
                </a:solidFill>
                <a:latin typeface="Avenir Next"/>
                <a:ea typeface="Avenir Next"/>
                <a:cs typeface="Avenir Next"/>
              </a:defRPr>
            </a:pPr>
            <a:r>
              <a:rPr sz="1200" b="0">
                <a:solidFill>
                  <a:srgbClr val="29467F"/>
                </a:solidFill>
                <a:latin typeface="Avenir Next"/>
                <a:ea typeface="Avenir Next"/>
                <a:cs typeface="Avenir Next"/>
              </a:rPr>
              <a:t>05</a:t>
            </a:r>
          </a:p>
        </p:txBody>
      </p:sp>
    </p:spTree>
    <p:extLst>
      <p:ext uri="{BB962C8B-B14F-4D97-AF65-F5344CB8AC3E}">
        <p14:creationId xmlns:p14="http://schemas.microsoft.com/office/powerpoint/2010/main" val="1910398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section">
            <a:extLst>
              <a:ext uri="{FF2B5EF4-FFF2-40B4-BE49-F238E27FC236}">
                <a16:creationId xmlns:a16="http://schemas.microsoft.com/office/drawing/2014/main" id="{7BFBD0D4-2947-426D-A750-1B432322575F}"/>
              </a:ext>
            </a:extLst>
          </p:cNvPr>
          <p:cNvSpPr>
            <a:spLocks noGrp="1"/>
          </p:cNvSpPr>
          <p:nvPr/>
        </p:nvSpPr>
        <p:spPr>
          <a:xfrm>
            <a:off x="685800" y="295275"/>
            <a:ext cx="8953500" cy="342900"/>
          </a:xfrm>
          <a:prstGeom prst="rect">
            <a:avLst/>
          </a:prstGeom>
          <a:noFill/>
          <a:ln w="0">
            <a:noFill/>
          </a:ln>
        </p:spPr>
        <p:txBody>
          <a:bodyPr>
            <a:noAutofit/>
          </a:bodyPr>
          <a:lstStyle/>
          <a:p>
            <a:pPr>
              <a:defRPr sz="1275" b="1">
                <a:solidFill>
                  <a:srgbClr val="29467F"/>
                </a:solidFill>
                <a:latin typeface="Avenir Next"/>
                <a:ea typeface="Avenir Next"/>
                <a:cs typeface="Avenir Next"/>
              </a:defRPr>
            </a:pPr>
            <a:r>
              <a:rPr sz="1275" b="1">
                <a:solidFill>
                  <a:srgbClr val="29467F"/>
                </a:solidFill>
                <a:latin typeface="Avenir Next"/>
                <a:ea typeface="Avenir Next"/>
                <a:cs typeface="Avenir Next"/>
              </a:rPr>
              <a:t>SUPERVISING AI AGENTS IN RESEARCH</a:t>
            </a:r>
          </a:p>
        </p:txBody>
      </p:sp>
      <p:pic>
        <p:nvPicPr>
          <p:cNvPr id="14" name="Picture 13"/>
          <p:cNvPicPr>
            <a:picLocks noChangeAspect="1"/>
          </p:cNvPicPr>
          <p:nvPr/>
        </p:nvPicPr>
        <p:blipFill>
          <a:blip r:embed="rId3"/>
          <a:stretch/>
        </p:blipFill>
        <p:spPr>
          <a:xfrm>
            <a:off x="10287012" y="219075"/>
            <a:ext cx="1219177" cy="473869"/>
          </a:xfrm>
          <a:prstGeom prst="rect">
            <a:avLst/>
          </a:prstGeom>
        </p:spPr>
      </p:pic>
      <p:sp>
        <p:nvSpPr>
          <p:cNvPr id="3" name="orange-accent">
            <a:extLst>
              <a:ext uri="{FF2B5EF4-FFF2-40B4-BE49-F238E27FC236}">
                <a16:creationId xmlns:a16="http://schemas.microsoft.com/office/drawing/2014/main" id="{795EE685-EBE7-4AB4-B267-71E796F8176D}"/>
              </a:ext>
            </a:extLst>
          </p:cNvPr>
          <p:cNvSpPr>
            <a:spLocks noGrp="1"/>
          </p:cNvSpPr>
          <p:nvPr/>
        </p:nvSpPr>
        <p:spPr>
          <a:xfrm>
            <a:off x="685800" y="742950"/>
            <a:ext cx="609600" cy="38100"/>
          </a:xfrm>
          <a:prstGeom prst="rect">
            <a:avLst/>
          </a:prstGeom>
          <a:solidFill>
            <a:srgbClr val="D96500"/>
          </a:solidFill>
          <a:ln w="0">
            <a:noFill/>
          </a:ln>
        </p:spPr>
        <p:txBody>
          <a:bodyPr/>
          <a:lstStyle/>
          <a:p>
            <a:endParaRPr lang="en-GB"/>
          </a:p>
        </p:txBody>
      </p:sp>
      <p:sp>
        <p:nvSpPr>
          <p:cNvPr id="4" name="title">
            <a:extLst>
              <a:ext uri="{FF2B5EF4-FFF2-40B4-BE49-F238E27FC236}">
                <a16:creationId xmlns:a16="http://schemas.microsoft.com/office/drawing/2014/main" id="{6442250E-2EC4-4202-8D85-AF86F85183D6}"/>
              </a:ext>
            </a:extLst>
          </p:cNvPr>
          <p:cNvSpPr>
            <a:spLocks noGrp="1"/>
          </p:cNvSpPr>
          <p:nvPr/>
        </p:nvSpPr>
        <p:spPr>
          <a:xfrm>
            <a:off x="666750" y="923925"/>
            <a:ext cx="10858500" cy="1028700"/>
          </a:xfrm>
          <a:prstGeom prst="rect">
            <a:avLst/>
          </a:prstGeom>
          <a:noFill/>
          <a:ln w="0">
            <a:noFill/>
          </a:ln>
        </p:spPr>
        <p:txBody>
          <a:bodyPr>
            <a:noAutofit/>
          </a:bodyPr>
          <a:lstStyle/>
          <a:p>
            <a:pPr>
              <a:defRPr sz="3300" b="1">
                <a:solidFill>
                  <a:srgbClr val="29467F"/>
                </a:solidFill>
                <a:latin typeface="Avenir Next"/>
                <a:ea typeface="Avenir Next"/>
                <a:cs typeface="Avenir Next"/>
              </a:defRPr>
            </a:pPr>
            <a:r>
              <a:rPr sz="3300" b="1">
                <a:solidFill>
                  <a:srgbClr val="29467F"/>
                </a:solidFill>
                <a:latin typeface="Avenir Next"/>
                <a:ea typeface="Avenir Next"/>
                <a:cs typeface="Avenir Next"/>
              </a:rPr>
              <a:t>Instructions and access controls</a:t>
            </a:r>
          </a:p>
        </p:txBody>
      </p:sp>
      <p:sp>
        <p:nvSpPr>
          <p:cNvPr id="5" name="lead">
            <a:extLst>
              <a:ext uri="{FF2B5EF4-FFF2-40B4-BE49-F238E27FC236}">
                <a16:creationId xmlns:a16="http://schemas.microsoft.com/office/drawing/2014/main" id="{5014EAA5-7F82-4718-BF36-91DBEEAD8438}"/>
              </a:ext>
            </a:extLst>
          </p:cNvPr>
          <p:cNvSpPr>
            <a:spLocks noGrp="1"/>
          </p:cNvSpPr>
          <p:nvPr/>
        </p:nvSpPr>
        <p:spPr>
          <a:xfrm>
            <a:off x="704850" y="2105025"/>
            <a:ext cx="10620375" cy="1362075"/>
          </a:xfrm>
          <a:prstGeom prst="rect">
            <a:avLst/>
          </a:prstGeom>
          <a:noFill/>
          <a:ln w="0">
            <a:noFill/>
          </a:ln>
        </p:spPr>
        <p:txBody>
          <a:bodyPr>
            <a:noAutofit/>
          </a:bodyPr>
          <a:lstStyle/>
          <a:p>
            <a:pPr>
              <a:defRPr sz="2850" b="1">
                <a:solidFill>
                  <a:srgbClr val="000000"/>
                </a:solidFill>
                <a:latin typeface="Avenir Next"/>
                <a:ea typeface="Avenir Next"/>
                <a:cs typeface="Avenir Next"/>
              </a:defRPr>
            </a:pPr>
            <a:r>
              <a:rPr sz="2850" b="1">
                <a:solidFill>
                  <a:srgbClr val="000000"/>
                </a:solidFill>
                <a:latin typeface="Avenir Next"/>
                <a:ea typeface="Avenir Next"/>
                <a:cs typeface="Avenir Next"/>
              </a:rPr>
              <a:t>The agent account must be unable to read private participant files.</a:t>
            </a:r>
          </a:p>
        </p:txBody>
      </p:sp>
      <p:sp>
        <p:nvSpPr>
          <p:cNvPr id="6" name="point-1">
            <a:extLst>
              <a:ext uri="{FF2B5EF4-FFF2-40B4-BE49-F238E27FC236}">
                <a16:creationId xmlns:a16="http://schemas.microsoft.com/office/drawing/2014/main" id="{42A272B8-023C-4D53-9410-C1C336E35725}"/>
              </a:ext>
            </a:extLst>
          </p:cNvPr>
          <p:cNvSpPr>
            <a:spLocks noGrp="1"/>
          </p:cNvSpPr>
          <p:nvPr/>
        </p:nvSpPr>
        <p:spPr>
          <a:xfrm>
            <a:off x="723900" y="3724275"/>
            <a:ext cx="10668000" cy="590550"/>
          </a:xfrm>
          <a:prstGeom prst="rect">
            <a:avLst/>
          </a:prstGeom>
          <a:noFill/>
          <a:ln w="0">
            <a:noFill/>
          </a:ln>
        </p:spPr>
        <p:txBody>
          <a:bodyPr>
            <a:noAutofit/>
          </a:bodyPr>
          <a:lstStyle/>
          <a:p>
            <a:pPr>
              <a:defRPr sz="2175" b="0">
                <a:solidFill>
                  <a:srgbClr val="000000"/>
                </a:solidFill>
                <a:latin typeface="Avenir Next"/>
                <a:ea typeface="Avenir Next"/>
                <a:cs typeface="Avenir Next"/>
              </a:defRPr>
            </a:pPr>
            <a:r>
              <a:rPr sz="2175" b="0">
                <a:solidFill>
                  <a:srgbClr val="000000"/>
                </a:solidFill>
                <a:latin typeface="Avenir Next"/>
                <a:ea typeface="Avenir Next"/>
                <a:cs typeface="Avenir Next"/>
              </a:rPr>
              <a:t>Agent account: course files, documentation and invented fixtures</a:t>
            </a:r>
          </a:p>
        </p:txBody>
      </p:sp>
      <p:sp>
        <p:nvSpPr>
          <p:cNvPr id="7" name="point-2">
            <a:extLst>
              <a:ext uri="{FF2B5EF4-FFF2-40B4-BE49-F238E27FC236}">
                <a16:creationId xmlns:a16="http://schemas.microsoft.com/office/drawing/2014/main" id="{F7A256C1-9BFD-49EB-B1B9-F5F3E1ABDCA6}"/>
              </a:ext>
            </a:extLst>
          </p:cNvPr>
          <p:cNvSpPr>
            <a:spLocks noGrp="1"/>
          </p:cNvSpPr>
          <p:nvPr/>
        </p:nvSpPr>
        <p:spPr>
          <a:xfrm>
            <a:off x="723900" y="4324350"/>
            <a:ext cx="10668000" cy="590550"/>
          </a:xfrm>
          <a:prstGeom prst="rect">
            <a:avLst/>
          </a:prstGeom>
          <a:noFill/>
          <a:ln w="0">
            <a:noFill/>
          </a:ln>
        </p:spPr>
        <p:txBody>
          <a:bodyPr>
            <a:noAutofit/>
          </a:bodyPr>
          <a:lstStyle/>
          <a:p>
            <a:pPr>
              <a:defRPr sz="2175" b="0">
                <a:solidFill>
                  <a:srgbClr val="000000"/>
                </a:solidFill>
                <a:latin typeface="Avenir Next"/>
                <a:ea typeface="Avenir Next"/>
                <a:cs typeface="Avenir Next"/>
              </a:defRPr>
            </a:pPr>
            <a:r>
              <a:rPr sz="2175" b="0">
                <a:solidFill>
                  <a:srgbClr val="000000"/>
                </a:solidFill>
                <a:latin typeface="Avenir Next"/>
                <a:ea typeface="Avenir Next"/>
                <a:cs typeface="Avenir Next"/>
              </a:rPr>
              <a:t>Analysis account: participant inputs, private contracts and outputs</a:t>
            </a:r>
          </a:p>
        </p:txBody>
      </p:sp>
      <p:sp>
        <p:nvSpPr>
          <p:cNvPr id="8" name="point-3">
            <a:extLst>
              <a:ext uri="{FF2B5EF4-FFF2-40B4-BE49-F238E27FC236}">
                <a16:creationId xmlns:a16="http://schemas.microsoft.com/office/drawing/2014/main" id="{D295E742-A363-4E3D-B962-74242CBA7701}"/>
              </a:ext>
            </a:extLst>
          </p:cNvPr>
          <p:cNvSpPr>
            <a:spLocks noGrp="1"/>
          </p:cNvSpPr>
          <p:nvPr/>
        </p:nvSpPr>
        <p:spPr>
          <a:xfrm>
            <a:off x="723900" y="4924425"/>
            <a:ext cx="10668000" cy="590550"/>
          </a:xfrm>
          <a:prstGeom prst="rect">
            <a:avLst/>
          </a:prstGeom>
          <a:noFill/>
          <a:ln w="0">
            <a:noFill/>
          </a:ln>
        </p:spPr>
        <p:txBody>
          <a:bodyPr>
            <a:noAutofit/>
          </a:bodyPr>
          <a:lstStyle/>
          <a:p>
            <a:pPr>
              <a:defRPr sz="2175" b="0">
                <a:solidFill>
                  <a:srgbClr val="000000"/>
                </a:solidFill>
                <a:latin typeface="Avenir Next"/>
                <a:ea typeface="Avenir Next"/>
                <a:cs typeface="Avenir Next"/>
              </a:defRPr>
            </a:pPr>
            <a:r>
              <a:rPr sz="2175" b="0">
                <a:solidFill>
                  <a:srgbClr val="000000"/>
                </a:solidFill>
                <a:latin typeface="Avenir Next"/>
                <a:ea typeface="Avenir Next"/>
                <a:cs typeface="Avenir Next"/>
              </a:rPr>
              <a:t>Presenter: release only reviewed aggregate findings</a:t>
            </a:r>
          </a:p>
        </p:txBody>
      </p:sp>
      <p:sp>
        <p:nvSpPr>
          <p:cNvPr id="9" name="point-4">
            <a:extLst>
              <a:ext uri="{FF2B5EF4-FFF2-40B4-BE49-F238E27FC236}">
                <a16:creationId xmlns:a16="http://schemas.microsoft.com/office/drawing/2014/main" id="{FFEF1E4F-E7AA-445A-93ED-AA4B85487C01}"/>
              </a:ext>
            </a:extLst>
          </p:cNvPr>
          <p:cNvSpPr>
            <a:spLocks noGrp="1"/>
          </p:cNvSpPr>
          <p:nvPr/>
        </p:nvSpPr>
        <p:spPr>
          <a:xfrm>
            <a:off x="723900" y="5524500"/>
            <a:ext cx="10668000" cy="590550"/>
          </a:xfrm>
          <a:prstGeom prst="rect">
            <a:avLst/>
          </a:prstGeom>
          <a:noFill/>
          <a:ln w="0">
            <a:noFill/>
          </a:ln>
        </p:spPr>
        <p:txBody>
          <a:bodyPr>
            <a:noAutofit/>
          </a:bodyPr>
          <a:lstStyle/>
          <a:p>
            <a:pPr>
              <a:defRPr sz="2175" b="0">
                <a:solidFill>
                  <a:srgbClr val="000000"/>
                </a:solidFill>
                <a:latin typeface="Avenir Next"/>
                <a:ea typeface="Avenir Next"/>
                <a:cs typeface="Avenir Next"/>
              </a:defRPr>
            </a:pPr>
            <a:r>
              <a:rPr sz="2175" b="0">
                <a:solidFill>
                  <a:srgbClr val="000000"/>
                </a:solidFill>
                <a:latin typeface="Avenir Next"/>
                <a:ea typeface="Avenir Next"/>
                <a:cs typeface="Avenir Next"/>
              </a:rPr>
              <a:t>Verify denied access with an invented sentinel file</a:t>
            </a:r>
          </a:p>
        </p:txBody>
      </p:sp>
      <p:sp>
        <p:nvSpPr>
          <p:cNvPr id="10" name="footer-rule">
            <a:extLst>
              <a:ext uri="{FF2B5EF4-FFF2-40B4-BE49-F238E27FC236}">
                <a16:creationId xmlns:a16="http://schemas.microsoft.com/office/drawing/2014/main" id="{B3C4FFB0-3AFB-4182-B0BE-9C17CD6159D6}"/>
              </a:ext>
            </a:extLst>
          </p:cNvPr>
          <p:cNvSpPr>
            <a:spLocks noGrp="1"/>
          </p:cNvSpPr>
          <p:nvPr/>
        </p:nvSpPr>
        <p:spPr>
          <a:xfrm>
            <a:off x="685800" y="6515100"/>
            <a:ext cx="10820400" cy="9525"/>
          </a:xfrm>
          <a:prstGeom prst="rect">
            <a:avLst/>
          </a:prstGeom>
          <a:solidFill>
            <a:srgbClr val="DCE3EF"/>
          </a:solidFill>
          <a:ln w="0">
            <a:noFill/>
          </a:ln>
        </p:spPr>
        <p:txBody>
          <a:bodyPr/>
          <a:lstStyle/>
          <a:p>
            <a:endParaRPr lang="en-GB"/>
          </a:p>
        </p:txBody>
      </p:sp>
      <p:sp>
        <p:nvSpPr>
          <p:cNvPr id="11" name="footer">
            <a:extLst>
              <a:ext uri="{FF2B5EF4-FFF2-40B4-BE49-F238E27FC236}">
                <a16:creationId xmlns:a16="http://schemas.microsoft.com/office/drawing/2014/main" id="{01FE04B7-086D-48B4-A112-92B01CF67FEB}"/>
              </a:ext>
            </a:extLst>
          </p:cNvPr>
          <p:cNvSpPr>
            <a:spLocks noGrp="1"/>
          </p:cNvSpPr>
          <p:nvPr/>
        </p:nvSpPr>
        <p:spPr>
          <a:xfrm>
            <a:off x="685800" y="6553200"/>
            <a:ext cx="9525000" cy="228600"/>
          </a:xfrm>
          <a:prstGeom prst="rect">
            <a:avLst/>
          </a:prstGeom>
          <a:noFill/>
          <a:ln w="0">
            <a:noFill/>
          </a:ln>
        </p:spPr>
        <p:txBody>
          <a:bodyPr>
            <a:noAutofit/>
          </a:bodyPr>
          <a:lstStyle/>
          <a:p>
            <a:pPr>
              <a:defRPr sz="900" b="0">
                <a:solidFill>
                  <a:srgbClr val="29467F"/>
                </a:solidFill>
                <a:latin typeface="Avenir Next"/>
                <a:ea typeface="Avenir Next"/>
                <a:cs typeface="Avenir Next"/>
              </a:defRPr>
            </a:pPr>
            <a:r>
              <a:rPr sz="900" b="0">
                <a:solidFill>
                  <a:srgbClr val="29467F"/>
                </a:solidFill>
                <a:latin typeface="Avenir Next"/>
                <a:ea typeface="Avenir Next"/>
                <a:cs typeface="Avenir Next"/>
              </a:rPr>
              <a:t>AHRI  /  AI AGENT OVERSIGHT</a:t>
            </a:r>
          </a:p>
        </p:txBody>
      </p:sp>
      <p:sp>
        <p:nvSpPr>
          <p:cNvPr id="12" name="slide-number">
            <a:extLst>
              <a:ext uri="{FF2B5EF4-FFF2-40B4-BE49-F238E27FC236}">
                <a16:creationId xmlns:a16="http://schemas.microsoft.com/office/drawing/2014/main" id="{ECB4897D-3782-4540-8D27-7044DB90352A}"/>
              </a:ext>
            </a:extLst>
          </p:cNvPr>
          <p:cNvSpPr>
            <a:spLocks noGrp="1"/>
          </p:cNvSpPr>
          <p:nvPr/>
        </p:nvSpPr>
        <p:spPr>
          <a:xfrm>
            <a:off x="11258550" y="6534150"/>
            <a:ext cx="400050" cy="247650"/>
          </a:xfrm>
          <a:prstGeom prst="rect">
            <a:avLst/>
          </a:prstGeom>
          <a:noFill/>
          <a:ln w="0">
            <a:noFill/>
          </a:ln>
        </p:spPr>
        <p:txBody>
          <a:bodyPr>
            <a:noAutofit/>
          </a:bodyPr>
          <a:lstStyle/>
          <a:p>
            <a:pPr>
              <a:defRPr sz="1200" b="0">
                <a:solidFill>
                  <a:srgbClr val="29467F"/>
                </a:solidFill>
                <a:latin typeface="Avenir Next"/>
                <a:ea typeface="Avenir Next"/>
                <a:cs typeface="Avenir Next"/>
              </a:defRPr>
            </a:pPr>
            <a:r>
              <a:rPr sz="1200" b="0">
                <a:solidFill>
                  <a:srgbClr val="29467F"/>
                </a:solidFill>
                <a:latin typeface="Avenir Next"/>
                <a:ea typeface="Avenir Next"/>
                <a:cs typeface="Avenir Next"/>
              </a:rPr>
              <a:t>06</a:t>
            </a:r>
          </a:p>
        </p:txBody>
      </p:sp>
    </p:spTree>
    <p:extLst>
      <p:ext uri="{BB962C8B-B14F-4D97-AF65-F5344CB8AC3E}">
        <p14:creationId xmlns:p14="http://schemas.microsoft.com/office/powerpoint/2010/main" val="1989636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section">
            <a:extLst>
              <a:ext uri="{FF2B5EF4-FFF2-40B4-BE49-F238E27FC236}">
                <a16:creationId xmlns:a16="http://schemas.microsoft.com/office/drawing/2014/main" id="{FBA84376-9A53-4857-837F-2A0951C2A2DA}"/>
              </a:ext>
            </a:extLst>
          </p:cNvPr>
          <p:cNvSpPr>
            <a:spLocks noGrp="1"/>
          </p:cNvSpPr>
          <p:nvPr/>
        </p:nvSpPr>
        <p:spPr>
          <a:xfrm>
            <a:off x="685800" y="295275"/>
            <a:ext cx="8953500" cy="342900"/>
          </a:xfrm>
          <a:prstGeom prst="rect">
            <a:avLst/>
          </a:prstGeom>
          <a:noFill/>
          <a:ln w="0">
            <a:noFill/>
          </a:ln>
        </p:spPr>
        <p:txBody>
          <a:bodyPr>
            <a:noAutofit/>
          </a:bodyPr>
          <a:lstStyle/>
          <a:p>
            <a:pPr>
              <a:defRPr sz="1275" b="1">
                <a:solidFill>
                  <a:srgbClr val="29467F"/>
                </a:solidFill>
                <a:latin typeface="Avenir Next"/>
                <a:ea typeface="Avenir Next"/>
                <a:cs typeface="Avenir Next"/>
              </a:defRPr>
            </a:pPr>
            <a:r>
              <a:rPr sz="1275" b="1">
                <a:solidFill>
                  <a:srgbClr val="29467F"/>
                </a:solidFill>
                <a:latin typeface="Avenir Next"/>
                <a:ea typeface="Avenir Next"/>
                <a:cs typeface="Avenir Next"/>
              </a:rPr>
              <a:t>SUPERVISING AI AGENTS IN RESEARCH</a:t>
            </a:r>
          </a:p>
        </p:txBody>
      </p:sp>
      <p:pic>
        <p:nvPicPr>
          <p:cNvPr id="10" name="Picture 9"/>
          <p:cNvPicPr>
            <a:picLocks noChangeAspect="1"/>
          </p:cNvPicPr>
          <p:nvPr/>
        </p:nvPicPr>
        <p:blipFill>
          <a:blip r:embed="rId3"/>
          <a:stretch/>
        </p:blipFill>
        <p:spPr>
          <a:xfrm>
            <a:off x="10287012" y="219075"/>
            <a:ext cx="1219177" cy="473869"/>
          </a:xfrm>
          <a:prstGeom prst="rect">
            <a:avLst/>
          </a:prstGeom>
        </p:spPr>
      </p:pic>
      <p:sp>
        <p:nvSpPr>
          <p:cNvPr id="3" name="orange-accent">
            <a:extLst>
              <a:ext uri="{FF2B5EF4-FFF2-40B4-BE49-F238E27FC236}">
                <a16:creationId xmlns:a16="http://schemas.microsoft.com/office/drawing/2014/main" id="{9B915A98-4F33-432E-AB3C-71ACB55B16C8}"/>
              </a:ext>
            </a:extLst>
          </p:cNvPr>
          <p:cNvSpPr>
            <a:spLocks noGrp="1"/>
          </p:cNvSpPr>
          <p:nvPr/>
        </p:nvSpPr>
        <p:spPr>
          <a:xfrm>
            <a:off x="685800" y="742950"/>
            <a:ext cx="609600" cy="38100"/>
          </a:xfrm>
          <a:prstGeom prst="rect">
            <a:avLst/>
          </a:prstGeom>
          <a:solidFill>
            <a:srgbClr val="D96500"/>
          </a:solidFill>
          <a:ln w="0">
            <a:noFill/>
          </a:ln>
        </p:spPr>
        <p:txBody>
          <a:bodyPr/>
          <a:lstStyle/>
          <a:p>
            <a:endParaRPr lang="en-GB"/>
          </a:p>
        </p:txBody>
      </p:sp>
      <p:sp>
        <p:nvSpPr>
          <p:cNvPr id="4" name="title">
            <a:extLst>
              <a:ext uri="{FF2B5EF4-FFF2-40B4-BE49-F238E27FC236}">
                <a16:creationId xmlns:a16="http://schemas.microsoft.com/office/drawing/2014/main" id="{8F64E41F-A189-4079-B441-F23601F96629}"/>
              </a:ext>
            </a:extLst>
          </p:cNvPr>
          <p:cNvSpPr>
            <a:spLocks noGrp="1"/>
          </p:cNvSpPr>
          <p:nvPr/>
        </p:nvSpPr>
        <p:spPr>
          <a:xfrm>
            <a:off x="666750" y="923925"/>
            <a:ext cx="10858500" cy="1028700"/>
          </a:xfrm>
          <a:prstGeom prst="rect">
            <a:avLst/>
          </a:prstGeom>
          <a:noFill/>
          <a:ln w="0">
            <a:noFill/>
          </a:ln>
        </p:spPr>
        <p:txBody>
          <a:bodyPr>
            <a:noAutofit/>
          </a:bodyPr>
          <a:lstStyle/>
          <a:p>
            <a:pPr>
              <a:defRPr sz="3300" b="1">
                <a:solidFill>
                  <a:srgbClr val="29467F"/>
                </a:solidFill>
                <a:latin typeface="Avenir Next"/>
                <a:ea typeface="Avenir Next"/>
                <a:cs typeface="Avenir Next"/>
              </a:defRPr>
            </a:pPr>
            <a:r>
              <a:rPr sz="3300" b="1">
                <a:solidFill>
                  <a:srgbClr val="29467F"/>
                </a:solidFill>
                <a:latin typeface="Avenir Next"/>
                <a:ea typeface="Avenir Next"/>
                <a:cs typeface="Avenir Next"/>
              </a:rPr>
              <a:t>The same review questions across roles</a:t>
            </a:r>
          </a:p>
        </p:txBody>
      </p:sp>
      <p:graphicFrame>
        <p:nvGraphicFramePr>
          <p:cNvPr id="13" name="Table 12"/>
          <p:cNvGraphicFramePr/>
          <p:nvPr/>
        </p:nvGraphicFramePr>
        <p:xfrm>
          <a:off x="685800" y="2085975"/>
          <a:ext cx="10820400" cy="3352800"/>
        </p:xfrm>
        <a:graphic>
          <a:graphicData uri="http://schemas.openxmlformats.org/drawingml/2006/table">
            <a:tbl>
              <a:tblPr/>
              <a:tblGrid>
                <a:gridCol w="3714750">
                  <a:extLst>
                    <a:ext uri="{9D8B030D-6E8A-4147-A177-3AD203B41FA5}">
                      <a16:colId xmlns:a16="http://schemas.microsoft.com/office/drawing/2014/main" val="20000"/>
                    </a:ext>
                  </a:extLst>
                </a:gridCol>
                <a:gridCol w="7105650">
                  <a:extLst>
                    <a:ext uri="{9D8B030D-6E8A-4147-A177-3AD203B41FA5}">
                      <a16:colId xmlns:a16="http://schemas.microsoft.com/office/drawing/2014/main" val="20001"/>
                    </a:ext>
                  </a:extLst>
                </a:gridCol>
              </a:tblGrid>
              <a:tr h="666750">
                <a:tc>
                  <a:txBody>
                    <a:bodyPr/>
                    <a:lstStyle/>
                    <a:p>
                      <a:r>
                        <a:rPr sz="1950" b="1">
                          <a:solidFill>
                            <a:srgbClr val="29467F"/>
                          </a:solidFill>
                          <a:latin typeface="Avenir Next"/>
                          <a:ea typeface="Avenir Next"/>
                          <a:cs typeface="Avenir Next"/>
                        </a:rPr>
                        <a:t>Example task</a:t>
                      </a:r>
                    </a:p>
                  </a:txBody>
                  <a:tcPr>
                    <a:solidFill>
                      <a:srgbClr val="DCE3EF"/>
                    </a:solidFill>
                  </a:tcPr>
                </a:tc>
                <a:tc>
                  <a:txBody>
                    <a:bodyPr/>
                    <a:lstStyle/>
                    <a:p>
                      <a:r>
                        <a:rPr sz="1950" b="1">
                          <a:solidFill>
                            <a:srgbClr val="29467F"/>
                          </a:solidFill>
                          <a:latin typeface="Avenir Next"/>
                          <a:ea typeface="Avenir Next"/>
                          <a:cs typeface="Avenir Next"/>
                        </a:rPr>
                        <a:t>A review question</a:t>
                      </a:r>
                    </a:p>
                  </a:txBody>
                  <a:tcPr>
                    <a:solidFill>
                      <a:srgbClr val="DCE3EF"/>
                    </a:solidFill>
                  </a:tcPr>
                </a:tc>
                <a:extLst>
                  <a:ext uri="{0D108BD9-81ED-4DB2-BD59-A6C34878D82A}">
                    <a16:rowId xmlns:a16="http://schemas.microsoft.com/office/drawing/2014/main" val="10000"/>
                  </a:ext>
                </a:extLst>
              </a:tr>
              <a:tr h="666750">
                <a:tc>
                  <a:txBody>
                    <a:bodyPr/>
                    <a:lstStyle/>
                    <a:p>
                      <a:r>
                        <a:rPr sz="1950" b="0">
                          <a:solidFill>
                            <a:srgbClr val="000000"/>
                          </a:solidFill>
                          <a:latin typeface="Avenir Next"/>
                          <a:ea typeface="Avenir Next"/>
                          <a:cs typeface="Avenir Next"/>
                        </a:rPr>
                        <a:t>Research synthesis or trial report</a:t>
                      </a:r>
                    </a:p>
                  </a:txBody>
                  <a:tcPr>
                    <a:solidFill>
                      <a:srgbClr val="FFFFFF"/>
                    </a:solidFill>
                  </a:tcPr>
                </a:tc>
                <a:tc>
                  <a:txBody>
                    <a:bodyPr/>
                    <a:lstStyle/>
                    <a:p>
                      <a:r>
                        <a:rPr sz="1950" b="0">
                          <a:solidFill>
                            <a:srgbClr val="000000"/>
                          </a:solidFill>
                          <a:latin typeface="Avenir Next"/>
                          <a:ea typeface="Avenir Next"/>
                          <a:cs typeface="Avenir Next"/>
                        </a:rPr>
                        <a:t>Which sources support this claim?</a:t>
                      </a:r>
                    </a:p>
                  </a:txBody>
                  <a:tcPr>
                    <a:solidFill>
                      <a:srgbClr val="FFFFFF"/>
                    </a:solidFill>
                  </a:tcPr>
                </a:tc>
                <a:extLst>
                  <a:ext uri="{0D108BD9-81ED-4DB2-BD59-A6C34878D82A}">
                    <a16:rowId xmlns:a16="http://schemas.microsoft.com/office/drawing/2014/main" val="10001"/>
                  </a:ext>
                </a:extLst>
              </a:tr>
              <a:tr h="666750">
                <a:tc>
                  <a:txBody>
                    <a:bodyPr/>
                    <a:lstStyle/>
                    <a:p>
                      <a:r>
                        <a:rPr sz="1950" b="0">
                          <a:solidFill>
                            <a:srgbClr val="000000"/>
                          </a:solidFill>
                          <a:latin typeface="Avenir Next"/>
                          <a:ea typeface="Avenir Next"/>
                          <a:cs typeface="Avenir Next"/>
                        </a:rPr>
                        <a:t>Data cleaning</a:t>
                      </a:r>
                    </a:p>
                  </a:txBody>
                  <a:tcPr>
                    <a:solidFill>
                      <a:srgbClr val="F1F4F8"/>
                    </a:solidFill>
                  </a:tcPr>
                </a:tc>
                <a:tc>
                  <a:txBody>
                    <a:bodyPr/>
                    <a:lstStyle/>
                    <a:p>
                      <a:r>
                        <a:rPr sz="1950" b="0">
                          <a:solidFill>
                            <a:srgbClr val="000000"/>
                          </a:solidFill>
                          <a:latin typeface="Avenir Next"/>
                          <a:ea typeface="Avenir Next"/>
                          <a:cs typeface="Avenir Next"/>
                        </a:rPr>
                        <a:t>What does an unknown response mean?</a:t>
                      </a:r>
                    </a:p>
                  </a:txBody>
                  <a:tcPr>
                    <a:solidFill>
                      <a:srgbClr val="F1F4F8"/>
                    </a:solidFill>
                  </a:tcPr>
                </a:tc>
                <a:extLst>
                  <a:ext uri="{0D108BD9-81ED-4DB2-BD59-A6C34878D82A}">
                    <a16:rowId xmlns:a16="http://schemas.microsoft.com/office/drawing/2014/main" val="10002"/>
                  </a:ext>
                </a:extLst>
              </a:tr>
              <a:tr h="666750">
                <a:tc>
                  <a:txBody>
                    <a:bodyPr/>
                    <a:lstStyle/>
                    <a:p>
                      <a:r>
                        <a:rPr sz="1950" b="0">
                          <a:solidFill>
                            <a:srgbClr val="000000"/>
                          </a:solidFill>
                          <a:latin typeface="Avenir Next"/>
                          <a:ea typeface="Avenir Next"/>
                          <a:cs typeface="Avenir Next"/>
                        </a:rPr>
                        <a:t>Statistical or genomic analysis</a:t>
                      </a:r>
                    </a:p>
                  </a:txBody>
                  <a:tcPr>
                    <a:solidFill>
                      <a:srgbClr val="FFFFFF"/>
                    </a:solidFill>
                  </a:tcPr>
                </a:tc>
                <a:tc>
                  <a:txBody>
                    <a:bodyPr/>
                    <a:lstStyle/>
                    <a:p>
                      <a:r>
                        <a:rPr sz="1950" b="0">
                          <a:solidFill>
                            <a:srgbClr val="000000"/>
                          </a:solidFill>
                          <a:latin typeface="Avenir Next"/>
                          <a:ea typeface="Avenir Next"/>
                          <a:cs typeface="Avenir Next"/>
                        </a:rPr>
                        <a:t>What could invalidate this comparison?</a:t>
                      </a:r>
                    </a:p>
                  </a:txBody>
                  <a:tcPr>
                    <a:solidFill>
                      <a:srgbClr val="FFFFFF"/>
                    </a:solidFill>
                  </a:tcPr>
                </a:tc>
                <a:extLst>
                  <a:ext uri="{0D108BD9-81ED-4DB2-BD59-A6C34878D82A}">
                    <a16:rowId xmlns:a16="http://schemas.microsoft.com/office/drawing/2014/main" val="10003"/>
                  </a:ext>
                </a:extLst>
              </a:tr>
              <a:tr h="666750">
                <a:tc>
                  <a:txBody>
                    <a:bodyPr/>
                    <a:lstStyle/>
                    <a:p>
                      <a:r>
                        <a:rPr sz="1950" b="0">
                          <a:solidFill>
                            <a:srgbClr val="000000"/>
                          </a:solidFill>
                          <a:latin typeface="Avenir Next"/>
                          <a:ea typeface="Avenir Next"/>
                          <a:cs typeface="Avenir Next"/>
                        </a:rPr>
                        <a:t>Software implementation</a:t>
                      </a:r>
                    </a:p>
                  </a:txBody>
                  <a:tcPr>
                    <a:solidFill>
                      <a:srgbClr val="F1F4F8"/>
                    </a:solidFill>
                  </a:tcPr>
                </a:tc>
                <a:tc>
                  <a:txBody>
                    <a:bodyPr/>
                    <a:lstStyle/>
                    <a:p>
                      <a:r>
                        <a:rPr sz="1950" b="0">
                          <a:solidFill>
                            <a:srgbClr val="000000"/>
                          </a:solidFill>
                          <a:latin typeface="Avenir Next"/>
                          <a:ea typeface="Avenir Next"/>
                          <a:cs typeface="Avenir Next"/>
                        </a:rPr>
                        <a:t>Which behaviour proves the task is complete?</a:t>
                      </a:r>
                    </a:p>
                  </a:txBody>
                  <a:tcPr>
                    <a:solidFill>
                      <a:srgbClr val="F1F4F8"/>
                    </a:solidFill>
                  </a:tcPr>
                </a:tc>
                <a:extLst>
                  <a:ext uri="{0D108BD9-81ED-4DB2-BD59-A6C34878D82A}">
                    <a16:rowId xmlns:a16="http://schemas.microsoft.com/office/drawing/2014/main" val="10004"/>
                  </a:ext>
                </a:extLst>
              </a:tr>
            </a:tbl>
          </a:graphicData>
        </a:graphic>
      </p:graphicFrame>
      <p:sp>
        <p:nvSpPr>
          <p:cNvPr id="6" name="footer-rule">
            <a:extLst>
              <a:ext uri="{FF2B5EF4-FFF2-40B4-BE49-F238E27FC236}">
                <a16:creationId xmlns:a16="http://schemas.microsoft.com/office/drawing/2014/main" id="{FF467451-D79E-44A7-A8BD-AF1A5984B5AF}"/>
              </a:ext>
            </a:extLst>
          </p:cNvPr>
          <p:cNvSpPr>
            <a:spLocks noGrp="1"/>
          </p:cNvSpPr>
          <p:nvPr/>
        </p:nvSpPr>
        <p:spPr>
          <a:xfrm>
            <a:off x="685800" y="6515100"/>
            <a:ext cx="10820400" cy="9525"/>
          </a:xfrm>
          <a:prstGeom prst="rect">
            <a:avLst/>
          </a:prstGeom>
          <a:solidFill>
            <a:srgbClr val="DCE3EF"/>
          </a:solidFill>
          <a:ln w="0">
            <a:noFill/>
          </a:ln>
        </p:spPr>
        <p:txBody>
          <a:bodyPr/>
          <a:lstStyle/>
          <a:p>
            <a:endParaRPr lang="en-GB"/>
          </a:p>
        </p:txBody>
      </p:sp>
      <p:sp>
        <p:nvSpPr>
          <p:cNvPr id="7" name="footer">
            <a:extLst>
              <a:ext uri="{FF2B5EF4-FFF2-40B4-BE49-F238E27FC236}">
                <a16:creationId xmlns:a16="http://schemas.microsoft.com/office/drawing/2014/main" id="{35FD7E90-E229-41CC-A0DC-CD3EE9689D89}"/>
              </a:ext>
            </a:extLst>
          </p:cNvPr>
          <p:cNvSpPr>
            <a:spLocks noGrp="1"/>
          </p:cNvSpPr>
          <p:nvPr/>
        </p:nvSpPr>
        <p:spPr>
          <a:xfrm>
            <a:off x="685800" y="6553200"/>
            <a:ext cx="9525000" cy="228600"/>
          </a:xfrm>
          <a:prstGeom prst="rect">
            <a:avLst/>
          </a:prstGeom>
          <a:noFill/>
          <a:ln w="0">
            <a:noFill/>
          </a:ln>
        </p:spPr>
        <p:txBody>
          <a:bodyPr>
            <a:noAutofit/>
          </a:bodyPr>
          <a:lstStyle/>
          <a:p>
            <a:pPr>
              <a:defRPr sz="900" b="0">
                <a:solidFill>
                  <a:srgbClr val="29467F"/>
                </a:solidFill>
                <a:latin typeface="Avenir Next"/>
                <a:ea typeface="Avenir Next"/>
                <a:cs typeface="Avenir Next"/>
              </a:defRPr>
            </a:pPr>
            <a:r>
              <a:rPr sz="900" b="0">
                <a:solidFill>
                  <a:srgbClr val="29467F"/>
                </a:solidFill>
                <a:latin typeface="Avenir Next"/>
                <a:ea typeface="Avenir Next"/>
                <a:cs typeface="Avenir Next"/>
              </a:rPr>
              <a:t>AHRI  /  AI AGENT OVERSIGHT</a:t>
            </a:r>
          </a:p>
        </p:txBody>
      </p:sp>
      <p:sp>
        <p:nvSpPr>
          <p:cNvPr id="8" name="slide-number">
            <a:extLst>
              <a:ext uri="{FF2B5EF4-FFF2-40B4-BE49-F238E27FC236}">
                <a16:creationId xmlns:a16="http://schemas.microsoft.com/office/drawing/2014/main" id="{FF2D916B-1203-468B-8F02-D1684F7F2CE9}"/>
              </a:ext>
            </a:extLst>
          </p:cNvPr>
          <p:cNvSpPr>
            <a:spLocks noGrp="1"/>
          </p:cNvSpPr>
          <p:nvPr/>
        </p:nvSpPr>
        <p:spPr>
          <a:xfrm>
            <a:off x="11258550" y="6534150"/>
            <a:ext cx="400050" cy="247650"/>
          </a:xfrm>
          <a:prstGeom prst="rect">
            <a:avLst/>
          </a:prstGeom>
          <a:noFill/>
          <a:ln w="0">
            <a:noFill/>
          </a:ln>
        </p:spPr>
        <p:txBody>
          <a:bodyPr>
            <a:noAutofit/>
          </a:bodyPr>
          <a:lstStyle/>
          <a:p>
            <a:pPr>
              <a:defRPr sz="1200" b="0">
                <a:solidFill>
                  <a:srgbClr val="29467F"/>
                </a:solidFill>
                <a:latin typeface="Avenir Next"/>
                <a:ea typeface="Avenir Next"/>
                <a:cs typeface="Avenir Next"/>
              </a:defRPr>
            </a:pPr>
            <a:r>
              <a:rPr sz="1200" b="0">
                <a:solidFill>
                  <a:srgbClr val="29467F"/>
                </a:solidFill>
                <a:latin typeface="Avenir Next"/>
                <a:ea typeface="Avenir Next"/>
                <a:cs typeface="Avenir Next"/>
              </a:rPr>
              <a:t>07</a:t>
            </a:r>
          </a:p>
        </p:txBody>
      </p:sp>
    </p:spTree>
    <p:extLst>
      <p:ext uri="{BB962C8B-B14F-4D97-AF65-F5344CB8AC3E}">
        <p14:creationId xmlns:p14="http://schemas.microsoft.com/office/powerpoint/2010/main" val="17147277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ection">
            <a:extLst>
              <a:ext uri="{FF2B5EF4-FFF2-40B4-BE49-F238E27FC236}">
                <a16:creationId xmlns:a16="http://schemas.microsoft.com/office/drawing/2014/main" id="{32C69474-C390-4C54-A398-E822EC341633}"/>
              </a:ext>
            </a:extLst>
          </p:cNvPr>
          <p:cNvSpPr>
            <a:spLocks noGrp="1"/>
          </p:cNvSpPr>
          <p:nvPr/>
        </p:nvSpPr>
        <p:spPr>
          <a:xfrm>
            <a:off x="685800" y="295275"/>
            <a:ext cx="8953500" cy="342900"/>
          </a:xfrm>
          <a:prstGeom prst="rect">
            <a:avLst/>
          </a:prstGeom>
          <a:noFill/>
          <a:ln w="0">
            <a:noFill/>
          </a:ln>
        </p:spPr>
        <p:txBody>
          <a:bodyPr>
            <a:noAutofit/>
          </a:bodyPr>
          <a:lstStyle/>
          <a:p>
            <a:pPr>
              <a:defRPr sz="1275" b="1">
                <a:solidFill>
                  <a:srgbClr val="29467F"/>
                </a:solidFill>
                <a:latin typeface="Avenir Next"/>
                <a:ea typeface="Avenir Next"/>
                <a:cs typeface="Avenir Next"/>
              </a:defRPr>
            </a:pPr>
            <a:r>
              <a:rPr sz="1275" b="1">
                <a:solidFill>
                  <a:srgbClr val="29467F"/>
                </a:solidFill>
                <a:latin typeface="Avenir Next"/>
                <a:ea typeface="Avenir Next"/>
                <a:cs typeface="Avenir Next"/>
              </a:rPr>
              <a:t>SUPERVISING AI AGENTS IN RESEARCH</a:t>
            </a:r>
          </a:p>
        </p:txBody>
      </p:sp>
      <p:pic>
        <p:nvPicPr>
          <p:cNvPr id="11" name="Picture 10"/>
          <p:cNvPicPr>
            <a:picLocks noChangeAspect="1"/>
          </p:cNvPicPr>
          <p:nvPr/>
        </p:nvPicPr>
        <p:blipFill>
          <a:blip r:embed="rId3"/>
          <a:stretch/>
        </p:blipFill>
        <p:spPr>
          <a:xfrm>
            <a:off x="10287012" y="219075"/>
            <a:ext cx="1219177" cy="473869"/>
          </a:xfrm>
          <a:prstGeom prst="rect">
            <a:avLst/>
          </a:prstGeom>
        </p:spPr>
      </p:pic>
      <p:sp>
        <p:nvSpPr>
          <p:cNvPr id="3" name="orange-accent">
            <a:extLst>
              <a:ext uri="{FF2B5EF4-FFF2-40B4-BE49-F238E27FC236}">
                <a16:creationId xmlns:a16="http://schemas.microsoft.com/office/drawing/2014/main" id="{AD539823-FB36-4D18-8539-97E2E3FE24E4}"/>
              </a:ext>
            </a:extLst>
          </p:cNvPr>
          <p:cNvSpPr>
            <a:spLocks noGrp="1"/>
          </p:cNvSpPr>
          <p:nvPr/>
        </p:nvSpPr>
        <p:spPr>
          <a:xfrm>
            <a:off x="685800" y="742950"/>
            <a:ext cx="609600" cy="38100"/>
          </a:xfrm>
          <a:prstGeom prst="rect">
            <a:avLst/>
          </a:prstGeom>
          <a:solidFill>
            <a:srgbClr val="D96500"/>
          </a:solidFill>
          <a:ln w="0">
            <a:noFill/>
          </a:ln>
        </p:spPr>
        <p:txBody>
          <a:bodyPr/>
          <a:lstStyle/>
          <a:p>
            <a:endParaRPr lang="en-GB"/>
          </a:p>
        </p:txBody>
      </p:sp>
      <p:sp>
        <p:nvSpPr>
          <p:cNvPr id="4" name="title">
            <a:extLst>
              <a:ext uri="{FF2B5EF4-FFF2-40B4-BE49-F238E27FC236}">
                <a16:creationId xmlns:a16="http://schemas.microsoft.com/office/drawing/2014/main" id="{D4E376EE-01A9-4B10-9548-6921D77F0284}"/>
              </a:ext>
            </a:extLst>
          </p:cNvPr>
          <p:cNvSpPr>
            <a:spLocks noGrp="1"/>
          </p:cNvSpPr>
          <p:nvPr/>
        </p:nvSpPr>
        <p:spPr>
          <a:xfrm>
            <a:off x="666750" y="923925"/>
            <a:ext cx="10858500" cy="1028700"/>
          </a:xfrm>
          <a:prstGeom prst="rect">
            <a:avLst/>
          </a:prstGeom>
          <a:noFill/>
          <a:ln w="0">
            <a:noFill/>
          </a:ln>
        </p:spPr>
        <p:txBody>
          <a:bodyPr>
            <a:noAutofit/>
          </a:bodyPr>
          <a:lstStyle/>
          <a:p>
            <a:pPr>
              <a:defRPr sz="3300" b="1">
                <a:solidFill>
                  <a:srgbClr val="29467F"/>
                </a:solidFill>
                <a:latin typeface="Avenir Next"/>
                <a:ea typeface="Avenir Next"/>
                <a:cs typeface="Avenir Next"/>
              </a:defRPr>
            </a:pPr>
            <a:r>
              <a:rPr sz="3300" b="1">
                <a:solidFill>
                  <a:srgbClr val="29467F"/>
                </a:solidFill>
                <a:latin typeface="Avenir Next"/>
                <a:ea typeface="Avenir Next"/>
                <a:cs typeface="Avenir Next"/>
              </a:rPr>
              <a:t>Today's workflow</a:t>
            </a:r>
          </a:p>
        </p:txBody>
      </p:sp>
      <p:graphicFrame>
        <p:nvGraphicFramePr>
          <p:cNvPr id="14" name="Table 13"/>
          <p:cNvGraphicFramePr/>
          <p:nvPr/>
        </p:nvGraphicFramePr>
        <p:xfrm>
          <a:off x="685800" y="2085975"/>
          <a:ext cx="10820400" cy="3333750"/>
        </p:xfrm>
        <a:graphic>
          <a:graphicData uri="http://schemas.openxmlformats.org/drawingml/2006/table">
            <a:tbl>
              <a:tblPr/>
              <a:tblGrid>
                <a:gridCol w="3714750">
                  <a:extLst>
                    <a:ext uri="{9D8B030D-6E8A-4147-A177-3AD203B41FA5}">
                      <a16:colId xmlns:a16="http://schemas.microsoft.com/office/drawing/2014/main" val="20000"/>
                    </a:ext>
                  </a:extLst>
                </a:gridCol>
                <a:gridCol w="7105650">
                  <a:extLst>
                    <a:ext uri="{9D8B030D-6E8A-4147-A177-3AD203B41FA5}">
                      <a16:colId xmlns:a16="http://schemas.microsoft.com/office/drawing/2014/main" val="20001"/>
                    </a:ext>
                  </a:extLst>
                </a:gridCol>
              </a:tblGrid>
              <a:tr h="666750">
                <a:tc>
                  <a:txBody>
                    <a:bodyPr/>
                    <a:lstStyle/>
                    <a:p>
                      <a:r>
                        <a:rPr sz="1950" b="1">
                          <a:solidFill>
                            <a:srgbClr val="29467F"/>
                          </a:solidFill>
                          <a:latin typeface="Avenir Next"/>
                          <a:ea typeface="Avenir Next"/>
                          <a:cs typeface="Avenir Next"/>
                        </a:rPr>
                        <a:t>Time</a:t>
                      </a:r>
                    </a:p>
                  </a:txBody>
                  <a:tcPr>
                    <a:solidFill>
                      <a:srgbClr val="DCE3EF"/>
                    </a:solidFill>
                  </a:tcPr>
                </a:tc>
                <a:tc>
                  <a:txBody>
                    <a:bodyPr/>
                    <a:lstStyle/>
                    <a:p>
                      <a:r>
                        <a:rPr sz="1950" b="1">
                          <a:solidFill>
                            <a:srgbClr val="29467F"/>
                          </a:solidFill>
                          <a:latin typeface="Avenir Next"/>
                          <a:ea typeface="Avenir Next"/>
                          <a:cs typeface="Avenir Next"/>
                        </a:rPr>
                        <a:t>Activity</a:t>
                      </a:r>
                    </a:p>
                  </a:txBody>
                  <a:tcPr>
                    <a:solidFill>
                      <a:srgbClr val="DCE3EF"/>
                    </a:solidFill>
                  </a:tcPr>
                </a:tc>
                <a:extLst>
                  <a:ext uri="{0D108BD9-81ED-4DB2-BD59-A6C34878D82A}">
                    <a16:rowId xmlns:a16="http://schemas.microsoft.com/office/drawing/2014/main" val="10000"/>
                  </a:ext>
                </a:extLst>
              </a:tr>
              <a:tr h="666750">
                <a:tc>
                  <a:txBody>
                    <a:bodyPr/>
                    <a:lstStyle/>
                    <a:p>
                      <a:r>
                        <a:rPr sz="1950" b="0">
                          <a:solidFill>
                            <a:srgbClr val="000000"/>
                          </a:solidFill>
                          <a:latin typeface="Avenir Next"/>
                          <a:ea typeface="Avenir Next"/>
                          <a:cs typeface="Avenir Next"/>
                        </a:rPr>
                        <a:t>00–20 min</a:t>
                      </a:r>
                    </a:p>
                  </a:txBody>
                  <a:tcPr>
                    <a:solidFill>
                      <a:srgbClr val="FFFFFF"/>
                    </a:solidFill>
                  </a:tcPr>
                </a:tc>
                <a:tc>
                  <a:txBody>
                    <a:bodyPr/>
                    <a:lstStyle/>
                    <a:p>
                      <a:r>
                        <a:rPr sz="1950" b="0">
                          <a:solidFill>
                            <a:srgbClr val="000000"/>
                          </a:solidFill>
                          <a:latin typeface="Avenir Next"/>
                          <a:ea typeface="Avenir Next"/>
                          <a:cs typeface="Avenir Next"/>
                        </a:rPr>
                        <a:t>Essential concepts</a:t>
                      </a:r>
                    </a:p>
                  </a:txBody>
                  <a:tcPr>
                    <a:solidFill>
                      <a:srgbClr val="FFFFFF"/>
                    </a:solidFill>
                  </a:tcPr>
                </a:tc>
                <a:extLst>
                  <a:ext uri="{0D108BD9-81ED-4DB2-BD59-A6C34878D82A}">
                    <a16:rowId xmlns:a16="http://schemas.microsoft.com/office/drawing/2014/main" val="10001"/>
                  </a:ext>
                </a:extLst>
              </a:tr>
              <a:tr h="666750">
                <a:tc>
                  <a:txBody>
                    <a:bodyPr/>
                    <a:lstStyle/>
                    <a:p>
                      <a:r>
                        <a:rPr sz="1950" b="0">
                          <a:solidFill>
                            <a:srgbClr val="000000"/>
                          </a:solidFill>
                          <a:latin typeface="Avenir Next"/>
                          <a:ea typeface="Avenir Next"/>
                          <a:cs typeface="Avenir Next"/>
                        </a:rPr>
                        <a:t>20–85 min</a:t>
                      </a:r>
                    </a:p>
                  </a:txBody>
                  <a:tcPr>
                    <a:solidFill>
                      <a:srgbClr val="F1F4F8"/>
                    </a:solidFill>
                  </a:tcPr>
                </a:tc>
                <a:tc>
                  <a:txBody>
                    <a:bodyPr/>
                    <a:lstStyle/>
                    <a:p>
                      <a:r>
                        <a:rPr sz="1950" b="0">
                          <a:solidFill>
                            <a:srgbClr val="000000"/>
                          </a:solidFill>
                          <a:latin typeface="Avenir Next"/>
                          <a:ea typeface="Avenir Next"/>
                          <a:cs typeface="Avenir Next"/>
                        </a:rPr>
                        <a:t>Four skills, live demonstrations and exercises</a:t>
                      </a:r>
                    </a:p>
                  </a:txBody>
                  <a:tcPr>
                    <a:solidFill>
                      <a:srgbClr val="F1F4F8"/>
                    </a:solidFill>
                  </a:tcPr>
                </a:tc>
                <a:extLst>
                  <a:ext uri="{0D108BD9-81ED-4DB2-BD59-A6C34878D82A}">
                    <a16:rowId xmlns:a16="http://schemas.microsoft.com/office/drawing/2014/main" val="10002"/>
                  </a:ext>
                </a:extLst>
              </a:tr>
              <a:tr h="666750">
                <a:tc>
                  <a:txBody>
                    <a:bodyPr/>
                    <a:lstStyle/>
                    <a:p>
                      <a:r>
                        <a:rPr sz="1950" b="0">
                          <a:solidFill>
                            <a:srgbClr val="000000"/>
                          </a:solidFill>
                          <a:latin typeface="Avenir Next"/>
                          <a:ea typeface="Avenir Next"/>
                          <a:cs typeface="Avenir Next"/>
                        </a:rPr>
                        <a:t>85–100 min</a:t>
                      </a:r>
                    </a:p>
                  </a:txBody>
                  <a:tcPr>
                    <a:solidFill>
                      <a:srgbClr val="FFFFFF"/>
                    </a:solidFill>
                  </a:tcPr>
                </a:tc>
                <a:tc>
                  <a:txBody>
                    <a:bodyPr/>
                    <a:lstStyle/>
                    <a:p>
                      <a:r>
                        <a:rPr sz="1950" b="0">
                          <a:solidFill>
                            <a:srgbClr val="000000"/>
                          </a:solidFill>
                          <a:latin typeface="Avenir Next"/>
                          <a:ea typeface="Avenir Next"/>
                          <a:cs typeface="Avenir Next"/>
                        </a:rPr>
                        <a:t>Results and limitations</a:t>
                      </a:r>
                    </a:p>
                  </a:txBody>
                  <a:tcPr>
                    <a:solidFill>
                      <a:srgbClr val="FFFFFF"/>
                    </a:solidFill>
                  </a:tcPr>
                </a:tc>
                <a:extLst>
                  <a:ext uri="{0D108BD9-81ED-4DB2-BD59-A6C34878D82A}">
                    <a16:rowId xmlns:a16="http://schemas.microsoft.com/office/drawing/2014/main" val="10003"/>
                  </a:ext>
                </a:extLst>
              </a:tr>
              <a:tr h="666750">
                <a:tc>
                  <a:txBody>
                    <a:bodyPr/>
                    <a:lstStyle/>
                    <a:p>
                      <a:r>
                        <a:rPr sz="1950" b="0">
                          <a:solidFill>
                            <a:srgbClr val="000000"/>
                          </a:solidFill>
                          <a:latin typeface="Avenir Next"/>
                          <a:ea typeface="Avenir Next"/>
                          <a:cs typeface="Avenir Next"/>
                        </a:rPr>
                        <a:t>100–120 min</a:t>
                      </a:r>
                    </a:p>
                  </a:txBody>
                  <a:tcPr>
                    <a:solidFill>
                      <a:srgbClr val="F1F4F8"/>
                    </a:solidFill>
                  </a:tcPr>
                </a:tc>
                <a:tc>
                  <a:txBody>
                    <a:bodyPr/>
                    <a:lstStyle/>
                    <a:p>
                      <a:r>
                        <a:rPr sz="1950" b="0">
                          <a:solidFill>
                            <a:srgbClr val="000000"/>
                          </a:solidFill>
                          <a:latin typeface="Avenir Next"/>
                          <a:ea typeface="Avenir Next"/>
                          <a:cs typeface="Avenir Next"/>
                        </a:rPr>
                        <a:t>Questions and application to your work</a:t>
                      </a:r>
                    </a:p>
                  </a:txBody>
                  <a:tcPr>
                    <a:solidFill>
                      <a:srgbClr val="F1F4F8"/>
                    </a:solidFill>
                  </a:tcPr>
                </a:tc>
                <a:extLst>
                  <a:ext uri="{0D108BD9-81ED-4DB2-BD59-A6C34878D82A}">
                    <a16:rowId xmlns:a16="http://schemas.microsoft.com/office/drawing/2014/main" val="10004"/>
                  </a:ext>
                </a:extLst>
              </a:tr>
            </a:tbl>
          </a:graphicData>
        </a:graphic>
      </p:graphicFrame>
      <p:sp>
        <p:nvSpPr>
          <p:cNvPr id="6" name="disclosure">
            <a:extLst>
              <a:ext uri="{FF2B5EF4-FFF2-40B4-BE49-F238E27FC236}">
                <a16:creationId xmlns:a16="http://schemas.microsoft.com/office/drawing/2014/main" id="{C6BECBB7-7F41-4F7B-9803-891361A464DC}"/>
              </a:ext>
            </a:extLst>
          </p:cNvPr>
          <p:cNvSpPr>
            <a:spLocks noGrp="1"/>
          </p:cNvSpPr>
          <p:nvPr/>
        </p:nvSpPr>
        <p:spPr>
          <a:xfrm>
            <a:off x="704850" y="6048375"/>
            <a:ext cx="10744200" cy="457200"/>
          </a:xfrm>
          <a:prstGeom prst="rect">
            <a:avLst/>
          </a:prstGeom>
          <a:noFill/>
          <a:ln w="0">
            <a:noFill/>
          </a:ln>
        </p:spPr>
        <p:txBody>
          <a:bodyPr>
            <a:noAutofit/>
          </a:bodyPr>
          <a:lstStyle/>
          <a:p>
            <a:pPr>
              <a:defRPr sz="1650" b="1">
                <a:solidFill>
                  <a:srgbClr val="29467F"/>
                </a:solidFill>
                <a:latin typeface="Avenir Next"/>
                <a:ea typeface="Avenir Next"/>
                <a:cs typeface="Avenir Next"/>
              </a:defRPr>
            </a:pPr>
            <a:r>
              <a:rPr sz="1650" b="1">
                <a:solidFill>
                  <a:srgbClr val="29467F"/>
                </a:solidFill>
                <a:latin typeface="Avenir Next"/>
                <a:ea typeface="Avenir Next"/>
                <a:cs typeface="Avenir Next"/>
              </a:rPr>
              <a:t>grill-with-docs   /   to-spec   /   to-tickets   /   implement</a:t>
            </a:r>
          </a:p>
        </p:txBody>
      </p:sp>
      <p:sp>
        <p:nvSpPr>
          <p:cNvPr id="7" name="footer-rule">
            <a:extLst>
              <a:ext uri="{FF2B5EF4-FFF2-40B4-BE49-F238E27FC236}">
                <a16:creationId xmlns:a16="http://schemas.microsoft.com/office/drawing/2014/main" id="{ED27D253-CDB5-4D13-8AAF-85E8A79F183B}"/>
              </a:ext>
            </a:extLst>
          </p:cNvPr>
          <p:cNvSpPr>
            <a:spLocks noGrp="1"/>
          </p:cNvSpPr>
          <p:nvPr/>
        </p:nvSpPr>
        <p:spPr>
          <a:xfrm>
            <a:off x="685800" y="6515100"/>
            <a:ext cx="10820400" cy="9525"/>
          </a:xfrm>
          <a:prstGeom prst="rect">
            <a:avLst/>
          </a:prstGeom>
          <a:solidFill>
            <a:srgbClr val="DCE3EF"/>
          </a:solidFill>
          <a:ln w="0">
            <a:noFill/>
          </a:ln>
        </p:spPr>
        <p:txBody>
          <a:bodyPr/>
          <a:lstStyle/>
          <a:p>
            <a:endParaRPr lang="en-GB"/>
          </a:p>
        </p:txBody>
      </p:sp>
      <p:sp>
        <p:nvSpPr>
          <p:cNvPr id="8" name="footer">
            <a:extLst>
              <a:ext uri="{FF2B5EF4-FFF2-40B4-BE49-F238E27FC236}">
                <a16:creationId xmlns:a16="http://schemas.microsoft.com/office/drawing/2014/main" id="{6BCA7185-CEC1-4997-827E-15562D40890A}"/>
              </a:ext>
            </a:extLst>
          </p:cNvPr>
          <p:cNvSpPr>
            <a:spLocks noGrp="1"/>
          </p:cNvSpPr>
          <p:nvPr/>
        </p:nvSpPr>
        <p:spPr>
          <a:xfrm>
            <a:off x="685800" y="6553200"/>
            <a:ext cx="9525000" cy="228600"/>
          </a:xfrm>
          <a:prstGeom prst="rect">
            <a:avLst/>
          </a:prstGeom>
          <a:noFill/>
          <a:ln w="0">
            <a:noFill/>
          </a:ln>
        </p:spPr>
        <p:txBody>
          <a:bodyPr>
            <a:noAutofit/>
          </a:bodyPr>
          <a:lstStyle/>
          <a:p>
            <a:pPr>
              <a:defRPr sz="900" b="0">
                <a:solidFill>
                  <a:srgbClr val="29467F"/>
                </a:solidFill>
                <a:latin typeface="Avenir Next"/>
                <a:ea typeface="Avenir Next"/>
                <a:cs typeface="Avenir Next"/>
              </a:defRPr>
            </a:pPr>
            <a:r>
              <a:rPr sz="900" b="0">
                <a:solidFill>
                  <a:srgbClr val="29467F"/>
                </a:solidFill>
                <a:latin typeface="Avenir Next"/>
                <a:ea typeface="Avenir Next"/>
                <a:cs typeface="Avenir Next"/>
              </a:rPr>
              <a:t>AHRI  /  AI AGENT OVERSIGHT</a:t>
            </a:r>
          </a:p>
        </p:txBody>
      </p:sp>
      <p:sp>
        <p:nvSpPr>
          <p:cNvPr id="9" name="slide-number">
            <a:extLst>
              <a:ext uri="{FF2B5EF4-FFF2-40B4-BE49-F238E27FC236}">
                <a16:creationId xmlns:a16="http://schemas.microsoft.com/office/drawing/2014/main" id="{AAD9E1D0-F833-4B75-97B0-BE61D02BF03D}"/>
              </a:ext>
            </a:extLst>
          </p:cNvPr>
          <p:cNvSpPr>
            <a:spLocks noGrp="1"/>
          </p:cNvSpPr>
          <p:nvPr/>
        </p:nvSpPr>
        <p:spPr>
          <a:xfrm>
            <a:off x="11258550" y="6534150"/>
            <a:ext cx="400050" cy="247650"/>
          </a:xfrm>
          <a:prstGeom prst="rect">
            <a:avLst/>
          </a:prstGeom>
          <a:noFill/>
          <a:ln w="0">
            <a:noFill/>
          </a:ln>
        </p:spPr>
        <p:txBody>
          <a:bodyPr>
            <a:noAutofit/>
          </a:bodyPr>
          <a:lstStyle/>
          <a:p>
            <a:pPr>
              <a:defRPr sz="1200" b="0">
                <a:solidFill>
                  <a:srgbClr val="29467F"/>
                </a:solidFill>
                <a:latin typeface="Avenir Next"/>
                <a:ea typeface="Avenir Next"/>
                <a:cs typeface="Avenir Next"/>
              </a:defRPr>
            </a:pPr>
            <a:r>
              <a:rPr sz="1200" b="0">
                <a:solidFill>
                  <a:srgbClr val="29467F"/>
                </a:solidFill>
                <a:latin typeface="Avenir Next"/>
                <a:ea typeface="Avenir Next"/>
                <a:cs typeface="Avenir Next"/>
              </a:rPr>
              <a:t>08</a:t>
            </a:r>
          </a:p>
        </p:txBody>
      </p:sp>
    </p:spTree>
    <p:extLst>
      <p:ext uri="{BB962C8B-B14F-4D97-AF65-F5344CB8AC3E}">
        <p14:creationId xmlns:p14="http://schemas.microsoft.com/office/powerpoint/2010/main" val="15592413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section">
            <a:extLst>
              <a:ext uri="{FF2B5EF4-FFF2-40B4-BE49-F238E27FC236}">
                <a16:creationId xmlns:a16="http://schemas.microsoft.com/office/drawing/2014/main" id="{C0654B2F-322E-4AAD-B4F1-FE02B78B4AA8}"/>
              </a:ext>
            </a:extLst>
          </p:cNvPr>
          <p:cNvSpPr>
            <a:spLocks noGrp="1"/>
          </p:cNvSpPr>
          <p:nvPr/>
        </p:nvSpPr>
        <p:spPr>
          <a:xfrm>
            <a:off x="685800" y="295275"/>
            <a:ext cx="8953500" cy="342900"/>
          </a:xfrm>
          <a:prstGeom prst="rect">
            <a:avLst/>
          </a:prstGeom>
          <a:noFill/>
          <a:ln w="0">
            <a:noFill/>
          </a:ln>
        </p:spPr>
        <p:txBody>
          <a:bodyPr>
            <a:noAutofit/>
          </a:bodyPr>
          <a:lstStyle/>
          <a:p>
            <a:pPr>
              <a:defRPr sz="1275" b="1">
                <a:solidFill>
                  <a:srgbClr val="29467F"/>
                </a:solidFill>
                <a:latin typeface="Avenir Next"/>
                <a:ea typeface="Avenir Next"/>
                <a:cs typeface="Avenir Next"/>
              </a:defRPr>
            </a:pPr>
            <a:r>
              <a:rPr sz="1275" b="1">
                <a:solidFill>
                  <a:srgbClr val="29467F"/>
                </a:solidFill>
                <a:latin typeface="Avenir Next"/>
                <a:ea typeface="Avenir Next"/>
                <a:cs typeface="Avenir Next"/>
              </a:rPr>
              <a:t>01  /  CLARIFY THE QUESTION</a:t>
            </a:r>
          </a:p>
        </p:txBody>
      </p:sp>
      <p:pic>
        <p:nvPicPr>
          <p:cNvPr id="16" name="Picture 15"/>
          <p:cNvPicPr>
            <a:picLocks noChangeAspect="1"/>
          </p:cNvPicPr>
          <p:nvPr/>
        </p:nvPicPr>
        <p:blipFill>
          <a:blip r:embed="rId3"/>
          <a:stretch/>
        </p:blipFill>
        <p:spPr>
          <a:xfrm>
            <a:off x="10287012" y="219075"/>
            <a:ext cx="1219177" cy="473869"/>
          </a:xfrm>
          <a:prstGeom prst="rect">
            <a:avLst/>
          </a:prstGeom>
        </p:spPr>
      </p:pic>
      <p:sp>
        <p:nvSpPr>
          <p:cNvPr id="3" name="orange-accent">
            <a:extLst>
              <a:ext uri="{FF2B5EF4-FFF2-40B4-BE49-F238E27FC236}">
                <a16:creationId xmlns:a16="http://schemas.microsoft.com/office/drawing/2014/main" id="{28BFC6F3-5CAC-412D-B2BA-B41265B30E79}"/>
              </a:ext>
            </a:extLst>
          </p:cNvPr>
          <p:cNvSpPr>
            <a:spLocks noGrp="1"/>
          </p:cNvSpPr>
          <p:nvPr/>
        </p:nvSpPr>
        <p:spPr>
          <a:xfrm>
            <a:off x="685800" y="742950"/>
            <a:ext cx="609600" cy="38100"/>
          </a:xfrm>
          <a:prstGeom prst="rect">
            <a:avLst/>
          </a:prstGeom>
          <a:solidFill>
            <a:srgbClr val="D96500"/>
          </a:solidFill>
          <a:ln w="0">
            <a:noFill/>
          </a:ln>
        </p:spPr>
        <p:txBody>
          <a:bodyPr/>
          <a:lstStyle/>
          <a:p>
            <a:endParaRPr lang="en-GB"/>
          </a:p>
        </p:txBody>
      </p:sp>
      <p:sp>
        <p:nvSpPr>
          <p:cNvPr id="4" name="title">
            <a:extLst>
              <a:ext uri="{FF2B5EF4-FFF2-40B4-BE49-F238E27FC236}">
                <a16:creationId xmlns:a16="http://schemas.microsoft.com/office/drawing/2014/main" id="{6AC55E4E-013C-412C-B37F-91E60D58780D}"/>
              </a:ext>
            </a:extLst>
          </p:cNvPr>
          <p:cNvSpPr>
            <a:spLocks noGrp="1"/>
          </p:cNvSpPr>
          <p:nvPr/>
        </p:nvSpPr>
        <p:spPr>
          <a:xfrm>
            <a:off x="666750" y="923925"/>
            <a:ext cx="10858500" cy="1028700"/>
          </a:xfrm>
          <a:prstGeom prst="rect">
            <a:avLst/>
          </a:prstGeom>
          <a:noFill/>
          <a:ln w="0">
            <a:noFill/>
          </a:ln>
        </p:spPr>
        <p:txBody>
          <a:bodyPr>
            <a:noAutofit/>
          </a:bodyPr>
          <a:lstStyle/>
          <a:p>
            <a:pPr>
              <a:defRPr sz="3300" b="1">
                <a:solidFill>
                  <a:srgbClr val="29467F"/>
                </a:solidFill>
                <a:latin typeface="Avenir Next"/>
                <a:ea typeface="Avenir Next"/>
                <a:cs typeface="Avenir Next"/>
              </a:defRPr>
            </a:pPr>
            <a:r>
              <a:rPr sz="3300" b="1">
                <a:solidFill>
                  <a:srgbClr val="29467F"/>
                </a:solidFill>
                <a:latin typeface="Avenir Next"/>
                <a:ea typeface="Avenir Next"/>
                <a:cs typeface="Avenir Next"/>
              </a:rPr>
              <a:t>The worked example and its question</a:t>
            </a:r>
          </a:p>
        </p:txBody>
      </p:sp>
      <p:sp>
        <p:nvSpPr>
          <p:cNvPr id="5" name="question">
            <a:extLst>
              <a:ext uri="{FF2B5EF4-FFF2-40B4-BE49-F238E27FC236}">
                <a16:creationId xmlns:a16="http://schemas.microsoft.com/office/drawing/2014/main" id="{6C950C87-4F16-46F5-A40F-B882CE701F69}"/>
              </a:ext>
            </a:extLst>
          </p:cNvPr>
          <p:cNvSpPr>
            <a:spLocks noGrp="1"/>
          </p:cNvSpPr>
          <p:nvPr/>
        </p:nvSpPr>
        <p:spPr>
          <a:xfrm>
            <a:off x="704850" y="2038350"/>
            <a:ext cx="10668000" cy="1524000"/>
          </a:xfrm>
          <a:prstGeom prst="rect">
            <a:avLst/>
          </a:prstGeom>
          <a:noFill/>
          <a:ln w="0">
            <a:noFill/>
          </a:ln>
        </p:spPr>
        <p:txBody>
          <a:bodyPr>
            <a:noAutofit/>
          </a:bodyPr>
          <a:lstStyle/>
          <a:p>
            <a:pPr>
              <a:defRPr sz="2625" b="1">
                <a:solidFill>
                  <a:srgbClr val="000000"/>
                </a:solidFill>
                <a:latin typeface="Avenir Next"/>
                <a:ea typeface="Avenir Next"/>
                <a:cs typeface="Avenir Next"/>
              </a:defRPr>
            </a:pPr>
            <a:r>
              <a:rPr sz="2625" b="1">
                <a:solidFill>
                  <a:srgbClr val="000000"/>
                </a:solidFill>
                <a:latin typeface="Avenir Next"/>
                <a:ea typeface="Avenir Next"/>
                <a:cs typeface="Avenir Next"/>
              </a:rPr>
              <a:t>How well does a model trained on 2017–2021 records agree with InterVA5 cause assignments for 2022–2024 records?</a:t>
            </a:r>
          </a:p>
        </p:txBody>
      </p:sp>
      <p:sp>
        <p:nvSpPr>
          <p:cNvPr id="6" name="case-1">
            <a:extLst>
              <a:ext uri="{FF2B5EF4-FFF2-40B4-BE49-F238E27FC236}">
                <a16:creationId xmlns:a16="http://schemas.microsoft.com/office/drawing/2014/main" id="{7453DDC2-4988-4B5C-91B8-ED12F241BA3F}"/>
              </a:ext>
            </a:extLst>
          </p:cNvPr>
          <p:cNvSpPr>
            <a:spLocks noGrp="1"/>
          </p:cNvSpPr>
          <p:nvPr/>
        </p:nvSpPr>
        <p:spPr>
          <a:xfrm>
            <a:off x="704850" y="3724275"/>
            <a:ext cx="7524750" cy="685800"/>
          </a:xfrm>
          <a:prstGeom prst="rect">
            <a:avLst/>
          </a:prstGeom>
          <a:noFill/>
          <a:ln w="0">
            <a:noFill/>
          </a:ln>
        </p:spPr>
        <p:txBody>
          <a:bodyPr>
            <a:noAutofit/>
          </a:bodyPr>
          <a:lstStyle/>
          <a:p>
            <a:pPr>
              <a:defRPr sz="2100" b="0">
                <a:solidFill>
                  <a:srgbClr val="000000"/>
                </a:solidFill>
                <a:latin typeface="Avenir Next"/>
                <a:ea typeface="Avenir Next"/>
                <a:cs typeface="Avenir Next"/>
              </a:defRPr>
            </a:pPr>
            <a:r>
              <a:rPr sz="2100" b="0">
                <a:solidFill>
                  <a:srgbClr val="000000"/>
                </a:solidFill>
                <a:latin typeface="Avenir Next"/>
                <a:ea typeface="Avenir Next"/>
                <a:cs typeface="Avenir Next"/>
              </a:rPr>
              <a:t>Source: all ages, deaths in 2000–2024</a:t>
            </a:r>
          </a:p>
        </p:txBody>
      </p:sp>
      <p:sp>
        <p:nvSpPr>
          <p:cNvPr id="7" name="case-2">
            <a:extLst>
              <a:ext uri="{FF2B5EF4-FFF2-40B4-BE49-F238E27FC236}">
                <a16:creationId xmlns:a16="http://schemas.microsoft.com/office/drawing/2014/main" id="{8085F468-680D-45BB-AB8A-353B364D8A82}"/>
              </a:ext>
            </a:extLst>
          </p:cNvPr>
          <p:cNvSpPr>
            <a:spLocks noGrp="1"/>
          </p:cNvSpPr>
          <p:nvPr/>
        </p:nvSpPr>
        <p:spPr>
          <a:xfrm>
            <a:off x="704850" y="4438650"/>
            <a:ext cx="7524750" cy="685800"/>
          </a:xfrm>
          <a:prstGeom prst="rect">
            <a:avLst/>
          </a:prstGeom>
          <a:noFill/>
          <a:ln w="0">
            <a:noFill/>
          </a:ln>
        </p:spPr>
        <p:txBody>
          <a:bodyPr>
            <a:noAutofit/>
          </a:bodyPr>
          <a:lstStyle/>
          <a:p>
            <a:pPr>
              <a:defRPr sz="2100" b="0">
                <a:solidFill>
                  <a:srgbClr val="000000"/>
                </a:solidFill>
                <a:latin typeface="Avenir Next"/>
                <a:ea typeface="Avenir Next"/>
                <a:cs typeface="Avenir Next"/>
              </a:defRPr>
            </a:pPr>
            <a:r>
              <a:rPr sz="2100" b="0">
                <a:solidFill>
                  <a:srgbClr val="000000"/>
                </a:solidFill>
                <a:latin typeface="Avenir Next"/>
                <a:ea typeface="Avenir Next"/>
                <a:cs typeface="Avenir Next"/>
              </a:rPr>
              <a:t>Teaching cohort: adults 18+, deaths in 2017–2024</a:t>
            </a:r>
          </a:p>
        </p:txBody>
      </p:sp>
      <p:sp>
        <p:nvSpPr>
          <p:cNvPr id="8" name="case-3">
            <a:extLst>
              <a:ext uri="{FF2B5EF4-FFF2-40B4-BE49-F238E27FC236}">
                <a16:creationId xmlns:a16="http://schemas.microsoft.com/office/drawing/2014/main" id="{055BB373-AD2C-47E5-8FB1-DA31C0039BB9}"/>
              </a:ext>
            </a:extLst>
          </p:cNvPr>
          <p:cNvSpPr>
            <a:spLocks noGrp="1"/>
          </p:cNvSpPr>
          <p:nvPr/>
        </p:nvSpPr>
        <p:spPr>
          <a:xfrm>
            <a:off x="704850" y="5153025"/>
            <a:ext cx="7524750" cy="685800"/>
          </a:xfrm>
          <a:prstGeom prst="rect">
            <a:avLst/>
          </a:prstGeom>
          <a:noFill/>
          <a:ln w="0">
            <a:noFill/>
          </a:ln>
        </p:spPr>
        <p:txBody>
          <a:bodyPr>
            <a:noAutofit/>
          </a:bodyPr>
          <a:lstStyle/>
          <a:p>
            <a:pPr>
              <a:defRPr sz="2100" b="0">
                <a:solidFill>
                  <a:srgbClr val="000000"/>
                </a:solidFill>
                <a:latin typeface="Avenir Next"/>
                <a:ea typeface="Avenir Next"/>
                <a:cs typeface="Avenir Next"/>
              </a:defRPr>
            </a:pPr>
            <a:r>
              <a:rPr sz="2100" b="0">
                <a:solidFill>
                  <a:srgbClr val="000000"/>
                </a:solidFill>
                <a:latin typeface="Avenir Next"/>
                <a:ea typeface="Avenir Next"/>
                <a:cs typeface="Avenir Next"/>
              </a:rPr>
              <a:t>Inputs: 353 documented harmonised indicators</a:t>
            </a:r>
          </a:p>
        </p:txBody>
      </p:sp>
      <p:sp>
        <p:nvSpPr>
          <p:cNvPr id="9" name="qr-label">
            <a:extLst>
              <a:ext uri="{FF2B5EF4-FFF2-40B4-BE49-F238E27FC236}">
                <a16:creationId xmlns:a16="http://schemas.microsoft.com/office/drawing/2014/main" id="{DC1239DE-2961-4E3C-A574-A7EDCA61F088}"/>
              </a:ext>
            </a:extLst>
          </p:cNvPr>
          <p:cNvSpPr>
            <a:spLocks noGrp="1"/>
          </p:cNvSpPr>
          <p:nvPr/>
        </p:nvSpPr>
        <p:spPr>
          <a:xfrm>
            <a:off x="8667750" y="3533775"/>
            <a:ext cx="2857500" cy="342900"/>
          </a:xfrm>
          <a:prstGeom prst="rect">
            <a:avLst/>
          </a:prstGeom>
          <a:noFill/>
          <a:ln w="0">
            <a:noFill/>
          </a:ln>
        </p:spPr>
        <p:txBody>
          <a:bodyPr>
            <a:noAutofit/>
          </a:bodyPr>
          <a:lstStyle/>
          <a:p>
            <a:pPr>
              <a:defRPr sz="1800" b="1">
                <a:solidFill>
                  <a:srgbClr val="29467F"/>
                </a:solidFill>
                <a:latin typeface="Avenir Next"/>
                <a:ea typeface="Avenir Next"/>
                <a:cs typeface="Avenir Next"/>
              </a:defRPr>
            </a:pPr>
            <a:r>
              <a:rPr sz="1800" b="1">
                <a:solidFill>
                  <a:srgbClr val="29467F"/>
                </a:solidFill>
                <a:latin typeface="Avenir Next"/>
                <a:ea typeface="Avenir Next"/>
                <a:cs typeface="Avenir Next"/>
              </a:rPr>
              <a:t>AHRI data catalogue</a:t>
            </a:r>
          </a:p>
        </p:txBody>
      </p:sp>
      <p:pic>
        <p:nvPicPr>
          <p:cNvPr id="24" name="Picture 23"/>
          <p:cNvPicPr>
            <a:picLocks noChangeAspect="1"/>
          </p:cNvPicPr>
          <p:nvPr/>
        </p:nvPicPr>
        <p:blipFill>
          <a:blip r:embed="rId4"/>
          <a:stretch/>
        </p:blipFill>
        <p:spPr>
          <a:xfrm>
            <a:off x="8905875" y="3943350"/>
            <a:ext cx="2247900" cy="2247900"/>
          </a:xfrm>
          <a:prstGeom prst="rect">
            <a:avLst/>
          </a:prstGeom>
        </p:spPr>
      </p:pic>
      <p:sp>
        <p:nvSpPr>
          <p:cNvPr id="11" name="catalogue-link">
            <a:extLst>
              <a:ext uri="{FF2B5EF4-FFF2-40B4-BE49-F238E27FC236}">
                <a16:creationId xmlns:a16="http://schemas.microsoft.com/office/drawing/2014/main" id="{7594F411-6E8A-4B13-8258-85B7156A630E}"/>
              </a:ext>
            </a:extLst>
          </p:cNvPr>
          <p:cNvSpPr>
            <a:spLocks noGrp="1"/>
          </p:cNvSpPr>
          <p:nvPr/>
        </p:nvSpPr>
        <p:spPr>
          <a:xfrm>
            <a:off x="723900" y="6029325"/>
            <a:ext cx="7048500" cy="342900"/>
          </a:xfrm>
          <a:prstGeom prst="rect">
            <a:avLst/>
          </a:prstGeom>
          <a:noFill/>
          <a:ln w="0">
            <a:noFill/>
          </a:ln>
        </p:spPr>
        <p:txBody>
          <a:bodyPr>
            <a:noAutofit/>
          </a:bodyPr>
          <a:lstStyle/>
          <a:p>
            <a:pPr>
              <a:defRPr sz="1650" b="0">
                <a:solidFill>
                  <a:srgbClr val="29467F"/>
                </a:solidFill>
                <a:latin typeface="Avenir Next"/>
                <a:ea typeface="Avenir Next"/>
                <a:cs typeface="Avenir Next"/>
              </a:defRPr>
            </a:pPr>
            <a:r>
              <a:rPr sz="1650" b="0">
                <a:solidFill>
                  <a:srgbClr val="29467F"/>
                </a:solidFill>
                <a:latin typeface="Avenir Next"/>
                <a:ea typeface="Avenir Next"/>
                <a:cs typeface="Avenir Next"/>
                <a:hlinkClick r:id="rId5"/>
              </a:rPr>
              <a:t>Open catalogue 1262</a:t>
            </a:r>
          </a:p>
        </p:txBody>
      </p:sp>
      <p:sp>
        <p:nvSpPr>
          <p:cNvPr id="12" name="footer-rule">
            <a:extLst>
              <a:ext uri="{FF2B5EF4-FFF2-40B4-BE49-F238E27FC236}">
                <a16:creationId xmlns:a16="http://schemas.microsoft.com/office/drawing/2014/main" id="{08741553-1987-400D-AC55-52D9B86D6A10}"/>
              </a:ext>
            </a:extLst>
          </p:cNvPr>
          <p:cNvSpPr>
            <a:spLocks noGrp="1"/>
          </p:cNvSpPr>
          <p:nvPr/>
        </p:nvSpPr>
        <p:spPr>
          <a:xfrm>
            <a:off x="685800" y="6515100"/>
            <a:ext cx="10820400" cy="9525"/>
          </a:xfrm>
          <a:prstGeom prst="rect">
            <a:avLst/>
          </a:prstGeom>
          <a:solidFill>
            <a:srgbClr val="DCE3EF"/>
          </a:solidFill>
          <a:ln w="0">
            <a:noFill/>
          </a:ln>
        </p:spPr>
        <p:txBody>
          <a:bodyPr/>
          <a:lstStyle/>
          <a:p>
            <a:endParaRPr lang="en-GB"/>
          </a:p>
        </p:txBody>
      </p:sp>
      <p:sp>
        <p:nvSpPr>
          <p:cNvPr id="13" name="footer">
            <a:extLst>
              <a:ext uri="{FF2B5EF4-FFF2-40B4-BE49-F238E27FC236}">
                <a16:creationId xmlns:a16="http://schemas.microsoft.com/office/drawing/2014/main" id="{B5BF9B7D-594E-4FD9-BF4A-88AC46F584C8}"/>
              </a:ext>
            </a:extLst>
          </p:cNvPr>
          <p:cNvSpPr>
            <a:spLocks noGrp="1"/>
          </p:cNvSpPr>
          <p:nvPr/>
        </p:nvSpPr>
        <p:spPr>
          <a:xfrm>
            <a:off x="685800" y="6553200"/>
            <a:ext cx="9525000" cy="228600"/>
          </a:xfrm>
          <a:prstGeom prst="rect">
            <a:avLst/>
          </a:prstGeom>
          <a:noFill/>
          <a:ln w="0">
            <a:noFill/>
          </a:ln>
        </p:spPr>
        <p:txBody>
          <a:bodyPr>
            <a:noAutofit/>
          </a:bodyPr>
          <a:lstStyle/>
          <a:p>
            <a:pPr>
              <a:defRPr sz="900" b="0">
                <a:solidFill>
                  <a:srgbClr val="29467F"/>
                </a:solidFill>
                <a:latin typeface="Avenir Next"/>
                <a:ea typeface="Avenir Next"/>
                <a:cs typeface="Avenir Next"/>
              </a:defRPr>
            </a:pPr>
            <a:r>
              <a:rPr sz="900" b="0">
                <a:solidFill>
                  <a:srgbClr val="29467F"/>
                </a:solidFill>
                <a:latin typeface="Avenir Next"/>
                <a:ea typeface="Avenir Next"/>
                <a:cs typeface="Avenir Next"/>
              </a:rPr>
              <a:t>AHRI  /  AI AGENT OVERSIGHT</a:t>
            </a:r>
          </a:p>
        </p:txBody>
      </p:sp>
      <p:sp>
        <p:nvSpPr>
          <p:cNvPr id="14" name="slide-number">
            <a:extLst>
              <a:ext uri="{FF2B5EF4-FFF2-40B4-BE49-F238E27FC236}">
                <a16:creationId xmlns:a16="http://schemas.microsoft.com/office/drawing/2014/main" id="{F7266504-D920-47F7-9B3C-54061DD2B721}"/>
              </a:ext>
            </a:extLst>
          </p:cNvPr>
          <p:cNvSpPr>
            <a:spLocks noGrp="1"/>
          </p:cNvSpPr>
          <p:nvPr/>
        </p:nvSpPr>
        <p:spPr>
          <a:xfrm>
            <a:off x="11258550" y="6534150"/>
            <a:ext cx="400050" cy="247650"/>
          </a:xfrm>
          <a:prstGeom prst="rect">
            <a:avLst/>
          </a:prstGeom>
          <a:noFill/>
          <a:ln w="0">
            <a:noFill/>
          </a:ln>
        </p:spPr>
        <p:txBody>
          <a:bodyPr>
            <a:noAutofit/>
          </a:bodyPr>
          <a:lstStyle/>
          <a:p>
            <a:pPr>
              <a:defRPr sz="1200" b="0">
                <a:solidFill>
                  <a:srgbClr val="29467F"/>
                </a:solidFill>
                <a:latin typeface="Avenir Next"/>
                <a:ea typeface="Avenir Next"/>
                <a:cs typeface="Avenir Next"/>
              </a:defRPr>
            </a:pPr>
            <a:r>
              <a:rPr sz="1200" b="0">
                <a:solidFill>
                  <a:srgbClr val="29467F"/>
                </a:solidFill>
                <a:latin typeface="Avenir Next"/>
                <a:ea typeface="Avenir Next"/>
                <a:cs typeface="Avenir Next"/>
              </a:rPr>
              <a:t>09</a:t>
            </a:r>
          </a:p>
        </p:txBody>
      </p:sp>
    </p:spTree>
    <p:extLst>
      <p:ext uri="{BB962C8B-B14F-4D97-AF65-F5344CB8AC3E}">
        <p14:creationId xmlns:p14="http://schemas.microsoft.com/office/powerpoint/2010/main" val="206247078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75</TotalTime>
  <Words>3510</Words>
  <Application>Microsoft Macintosh PowerPoint</Application>
  <DocSecurity>0</DocSecurity>
  <PresentationFormat>Widescreen</PresentationFormat>
  <Paragraphs>239</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Avenir Next</vt:lpstr>
      <vt:lpstr>Calibri</vt:lpstr>
      <vt:lpstr>Menlo</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Kobus Herbst</cp:lastModifiedBy>
  <cp:revision>2</cp:revision>
  <dcterms:created xsi:type="dcterms:W3CDTF">2026-09-28T08:12:12Z</dcterms:created>
  <dcterms:modified xsi:type="dcterms:W3CDTF">2026-09-29T08:38:32Z</dcterms:modified>
</cp:coreProperties>
</file>